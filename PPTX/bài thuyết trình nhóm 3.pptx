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grandir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0" d="100"/>
          <a:sy n="50" d="100"/>
        </p:scale>
        <p:origin x="94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sv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sv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a:off x="1004839" y="8496691"/>
            <a:ext cx="744043" cy="778784"/>
          </a:xfrm>
          <a:custGeom>
            <a:avLst/>
            <a:gdLst/>
            <a:ahLst/>
            <a:cxnLst/>
            <a:rect l="l" t="t" r="r" b="b"/>
            <a:pathLst>
              <a:path w="744043" h="778784">
                <a:moveTo>
                  <a:pt x="0" y="0"/>
                </a:moveTo>
                <a:lnTo>
                  <a:pt x="744042" y="0"/>
                </a:lnTo>
                <a:lnTo>
                  <a:pt x="744042" y="778784"/>
                </a:lnTo>
                <a:lnTo>
                  <a:pt x="0" y="778784"/>
                </a:lnTo>
                <a:lnTo>
                  <a:pt x="0" y="0"/>
                </a:lnTo>
                <a:close/>
              </a:path>
            </a:pathLst>
          </a:custGeom>
          <a:blipFill>
            <a:blip r:embed="rId2"/>
            <a:stretch>
              <a:fillRect/>
            </a:stretch>
          </a:blipFill>
          <a:ln cap="sq">
            <a:noFill/>
            <a:prstDash val="solid"/>
            <a:miter/>
          </a:ln>
        </p:spPr>
        <p:txBody>
          <a:bodyPr/>
          <a:lstStyle/>
          <a:p>
            <a:endParaRPr lang="vi-VN">
              <a:latin typeface="+mj-lt"/>
            </a:endParaRPr>
          </a:p>
        </p:txBody>
      </p:sp>
      <p:sp>
        <p:nvSpPr>
          <p:cNvPr id="3" name="Freeform 3"/>
          <p:cNvSpPr/>
          <p:nvPr/>
        </p:nvSpPr>
        <p:spPr>
          <a:xfrm>
            <a:off x="-3328460" y="299598"/>
            <a:ext cx="6656920" cy="3199660"/>
          </a:xfrm>
          <a:custGeom>
            <a:avLst/>
            <a:gdLst/>
            <a:ahLst/>
            <a:cxnLst/>
            <a:rect l="l" t="t" r="r" b="b"/>
            <a:pathLst>
              <a:path w="6656920" h="3199660">
                <a:moveTo>
                  <a:pt x="0" y="0"/>
                </a:moveTo>
                <a:lnTo>
                  <a:pt x="6656920" y="0"/>
                </a:lnTo>
                <a:lnTo>
                  <a:pt x="6656920" y="3199660"/>
                </a:lnTo>
                <a:lnTo>
                  <a:pt x="0" y="3199660"/>
                </a:lnTo>
                <a:lnTo>
                  <a:pt x="0" y="0"/>
                </a:lnTo>
                <a:close/>
              </a:path>
            </a:pathLst>
          </a:custGeom>
          <a:blipFill>
            <a:blip r:embed="rId3"/>
            <a:stretch>
              <a:fillRect/>
            </a:stretch>
          </a:blipFill>
          <a:ln cap="sq">
            <a:noFill/>
            <a:prstDash val="solid"/>
            <a:miter/>
          </a:ln>
        </p:spPr>
        <p:txBody>
          <a:bodyPr/>
          <a:lstStyle/>
          <a:p>
            <a:endParaRPr lang="vi-VN"/>
          </a:p>
        </p:txBody>
      </p:sp>
      <p:sp>
        <p:nvSpPr>
          <p:cNvPr id="4" name="Freeform 4"/>
          <p:cNvSpPr/>
          <p:nvPr/>
        </p:nvSpPr>
        <p:spPr>
          <a:xfrm>
            <a:off x="15175516" y="4081535"/>
            <a:ext cx="986491" cy="1179139"/>
          </a:xfrm>
          <a:custGeom>
            <a:avLst/>
            <a:gdLst/>
            <a:ahLst/>
            <a:cxnLst/>
            <a:rect l="l" t="t" r="r" b="b"/>
            <a:pathLst>
              <a:path w="986491" h="1179139">
                <a:moveTo>
                  <a:pt x="0" y="0"/>
                </a:moveTo>
                <a:lnTo>
                  <a:pt x="986491" y="0"/>
                </a:lnTo>
                <a:lnTo>
                  <a:pt x="986491" y="1179139"/>
                </a:lnTo>
                <a:lnTo>
                  <a:pt x="0" y="1179139"/>
                </a:lnTo>
                <a:lnTo>
                  <a:pt x="0" y="0"/>
                </a:lnTo>
                <a:close/>
              </a:path>
            </a:pathLst>
          </a:custGeom>
          <a:blipFill>
            <a:blip r:embed="rId4"/>
            <a:stretch>
              <a:fillRect/>
            </a:stretch>
          </a:blipFill>
          <a:ln cap="sq">
            <a:noFill/>
            <a:prstDash val="solid"/>
            <a:miter/>
          </a:ln>
        </p:spPr>
        <p:txBody>
          <a:bodyPr/>
          <a:lstStyle/>
          <a:p>
            <a:endParaRPr lang="vi-VN">
              <a:latin typeface="+mj-lt"/>
            </a:endParaRPr>
          </a:p>
        </p:txBody>
      </p:sp>
      <p:sp>
        <p:nvSpPr>
          <p:cNvPr id="5" name="TextBox 5"/>
          <p:cNvSpPr txBox="1"/>
          <p:nvPr/>
        </p:nvSpPr>
        <p:spPr>
          <a:xfrm>
            <a:off x="3445381" y="2785535"/>
            <a:ext cx="11397238" cy="1360244"/>
          </a:xfrm>
          <a:prstGeom prst="rect">
            <a:avLst/>
          </a:prstGeom>
        </p:spPr>
        <p:txBody>
          <a:bodyPr lIns="0" tIns="0" rIns="0" bIns="0" rtlCol="0" anchor="t">
            <a:spAutoFit/>
          </a:bodyPr>
          <a:lstStyle/>
          <a:p>
            <a:pPr marL="0" lvl="0" indent="0" algn="ctr">
              <a:lnSpc>
                <a:spcPts val="11307"/>
              </a:lnSpc>
              <a:spcBef>
                <a:spcPct val="0"/>
              </a:spcBef>
            </a:pPr>
            <a:r>
              <a:rPr lang="en-US" sz="8076" b="1" u="none" strike="noStrike" spc="-161">
                <a:solidFill>
                  <a:srgbClr val="2B598F"/>
                </a:solidFill>
                <a:latin typeface="+mj-lt"/>
                <a:ea typeface="Agrandir Bold"/>
                <a:cs typeface="Agrandir Bold"/>
                <a:sym typeface="Agrandir Bold"/>
              </a:rPr>
              <a:t>LẬP TRÌNH ỨNG DỤNG</a:t>
            </a:r>
          </a:p>
        </p:txBody>
      </p:sp>
      <p:sp>
        <p:nvSpPr>
          <p:cNvPr id="6" name="Freeform 6"/>
          <p:cNvSpPr/>
          <p:nvPr/>
        </p:nvSpPr>
        <p:spPr>
          <a:xfrm>
            <a:off x="4552484" y="5611403"/>
            <a:ext cx="2100584" cy="2100584"/>
          </a:xfrm>
          <a:custGeom>
            <a:avLst/>
            <a:gdLst/>
            <a:ahLst/>
            <a:cxnLst/>
            <a:rect l="l" t="t" r="r" b="b"/>
            <a:pathLst>
              <a:path w="2100584" h="2100584">
                <a:moveTo>
                  <a:pt x="0" y="0"/>
                </a:moveTo>
                <a:lnTo>
                  <a:pt x="2100583" y="0"/>
                </a:lnTo>
                <a:lnTo>
                  <a:pt x="2100583" y="2100584"/>
                </a:lnTo>
                <a:lnTo>
                  <a:pt x="0" y="2100584"/>
                </a:lnTo>
                <a:lnTo>
                  <a:pt x="0" y="0"/>
                </a:lnTo>
                <a:close/>
              </a:path>
            </a:pathLst>
          </a:custGeom>
          <a:blipFill>
            <a:blip>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vi-VN">
              <a:latin typeface="+mj-lt"/>
            </a:endParaRPr>
          </a:p>
        </p:txBody>
      </p:sp>
      <p:sp>
        <p:nvSpPr>
          <p:cNvPr id="7" name="Freeform 7"/>
          <p:cNvSpPr/>
          <p:nvPr/>
        </p:nvSpPr>
        <p:spPr>
          <a:xfrm>
            <a:off x="13949019" y="5419142"/>
            <a:ext cx="3304658" cy="2522911"/>
          </a:xfrm>
          <a:custGeom>
            <a:avLst/>
            <a:gdLst/>
            <a:ahLst/>
            <a:cxnLst/>
            <a:rect l="l" t="t" r="r" b="b"/>
            <a:pathLst>
              <a:path w="3304658" h="2522911">
                <a:moveTo>
                  <a:pt x="0" y="0"/>
                </a:moveTo>
                <a:lnTo>
                  <a:pt x="3304658" y="0"/>
                </a:lnTo>
                <a:lnTo>
                  <a:pt x="3304658" y="2522911"/>
                </a:lnTo>
                <a:lnTo>
                  <a:pt x="0" y="2522911"/>
                </a:lnTo>
                <a:lnTo>
                  <a:pt x="0" y="0"/>
                </a:lnTo>
                <a:close/>
              </a:path>
            </a:pathLst>
          </a:custGeom>
          <a:blipFill>
            <a:blip r:embed="rId6"/>
            <a:stretch>
              <a:fillRect/>
            </a:stretch>
          </a:blipFill>
        </p:spPr>
        <p:txBody>
          <a:bodyPr/>
          <a:lstStyle/>
          <a:p>
            <a:endParaRPr lang="vi-VN">
              <a:latin typeface="+mj-lt"/>
            </a:endParaRPr>
          </a:p>
        </p:txBody>
      </p:sp>
      <p:sp>
        <p:nvSpPr>
          <p:cNvPr id="8" name="Freeform 8"/>
          <p:cNvSpPr/>
          <p:nvPr/>
        </p:nvSpPr>
        <p:spPr>
          <a:xfrm>
            <a:off x="3536898" y="2934898"/>
            <a:ext cx="443425" cy="564360"/>
          </a:xfrm>
          <a:custGeom>
            <a:avLst/>
            <a:gdLst/>
            <a:ahLst/>
            <a:cxnLst/>
            <a:rect l="l" t="t" r="r" b="b"/>
            <a:pathLst>
              <a:path w="443425" h="564360">
                <a:moveTo>
                  <a:pt x="0" y="0"/>
                </a:moveTo>
                <a:lnTo>
                  <a:pt x="443425" y="0"/>
                </a:lnTo>
                <a:lnTo>
                  <a:pt x="443425" y="564360"/>
                </a:lnTo>
                <a:lnTo>
                  <a:pt x="0" y="564360"/>
                </a:lnTo>
                <a:lnTo>
                  <a:pt x="0" y="0"/>
                </a:lnTo>
                <a:close/>
              </a:path>
            </a:pathLst>
          </a:custGeom>
          <a:blipFill>
            <a:blip>
              <a:extLst>
                <a:ext uri="{96DAC541-7B7A-43D3-8B79-37D633B846F1}">
                  <asvg:svgBlip xmlns:asvg="http://schemas.microsoft.com/office/drawing/2016/SVG/main" r:embed="rId7"/>
                </a:ext>
              </a:extLst>
            </a:blip>
            <a:stretch>
              <a:fillRect l="-604510" t="-42365" r="-436404" b="-800346"/>
            </a:stretch>
          </a:blipFill>
        </p:spPr>
        <p:txBody>
          <a:bodyPr/>
          <a:lstStyle/>
          <a:p>
            <a:endParaRPr lang="vi-VN">
              <a:latin typeface="+mj-lt"/>
            </a:endParaRPr>
          </a:p>
        </p:txBody>
      </p:sp>
      <p:sp>
        <p:nvSpPr>
          <p:cNvPr id="9" name="Freeform 9"/>
          <p:cNvSpPr/>
          <p:nvPr/>
        </p:nvSpPr>
        <p:spPr>
          <a:xfrm>
            <a:off x="13873683" y="-736495"/>
            <a:ext cx="2835550" cy="2835550"/>
          </a:xfrm>
          <a:custGeom>
            <a:avLst/>
            <a:gdLst/>
            <a:ahLst/>
            <a:cxnLst/>
            <a:rect l="l" t="t" r="r" b="b"/>
            <a:pathLst>
              <a:path w="2835550" h="2835550">
                <a:moveTo>
                  <a:pt x="0" y="0"/>
                </a:moveTo>
                <a:lnTo>
                  <a:pt x="2835550" y="0"/>
                </a:lnTo>
                <a:lnTo>
                  <a:pt x="2835550" y="2835551"/>
                </a:lnTo>
                <a:lnTo>
                  <a:pt x="0" y="283555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vi-VN"/>
          </a:p>
        </p:txBody>
      </p:sp>
      <p:sp>
        <p:nvSpPr>
          <p:cNvPr id="10" name="Freeform 10"/>
          <p:cNvSpPr/>
          <p:nvPr/>
        </p:nvSpPr>
        <p:spPr>
          <a:xfrm>
            <a:off x="16764616" y="4224913"/>
            <a:ext cx="494684" cy="610793"/>
          </a:xfrm>
          <a:custGeom>
            <a:avLst/>
            <a:gdLst/>
            <a:ahLst/>
            <a:cxnLst/>
            <a:rect l="l" t="t" r="r" b="b"/>
            <a:pathLst>
              <a:path w="494684" h="610793">
                <a:moveTo>
                  <a:pt x="0" y="0"/>
                </a:moveTo>
                <a:lnTo>
                  <a:pt x="494684" y="0"/>
                </a:lnTo>
                <a:lnTo>
                  <a:pt x="494684" y="610793"/>
                </a:lnTo>
                <a:lnTo>
                  <a:pt x="0" y="610793"/>
                </a:lnTo>
                <a:lnTo>
                  <a:pt x="0" y="0"/>
                </a:lnTo>
                <a:close/>
              </a:path>
            </a:pathLst>
          </a:custGeom>
          <a:blipFill>
            <a:blip>
              <a:extLst>
                <a:ext uri="{96DAC541-7B7A-43D3-8B79-37D633B846F1}">
                  <asvg:svgBlip xmlns:asvg="http://schemas.microsoft.com/office/drawing/2016/SVG/main" r:embed="rId9"/>
                </a:ext>
              </a:extLst>
            </a:blip>
            <a:stretch>
              <a:fillRect l="-283918" t="-193372" r="-944089" b="-484941"/>
            </a:stretch>
          </a:blipFill>
        </p:spPr>
        <p:txBody>
          <a:bodyPr/>
          <a:lstStyle/>
          <a:p>
            <a:endParaRPr lang="vi-VN">
              <a:latin typeface="+mj-lt"/>
            </a:endParaRPr>
          </a:p>
        </p:txBody>
      </p:sp>
      <p:sp>
        <p:nvSpPr>
          <p:cNvPr id="11" name="TextBox 11"/>
          <p:cNvSpPr txBox="1"/>
          <p:nvPr/>
        </p:nvSpPr>
        <p:spPr>
          <a:xfrm>
            <a:off x="4436524" y="4426131"/>
            <a:ext cx="9414952" cy="1455270"/>
          </a:xfrm>
          <a:prstGeom prst="rect">
            <a:avLst/>
          </a:prstGeom>
        </p:spPr>
        <p:txBody>
          <a:bodyPr lIns="0" tIns="0" rIns="0" bIns="0" rtlCol="0" anchor="t">
            <a:spAutoFit/>
          </a:bodyPr>
          <a:lstStyle/>
          <a:p>
            <a:pPr marL="0" lvl="0" indent="0" algn="ctr">
              <a:lnSpc>
                <a:spcPts val="12055"/>
              </a:lnSpc>
            </a:pPr>
            <a:r>
              <a:rPr lang="en-US" sz="8611" b="1" spc="-172">
                <a:solidFill>
                  <a:srgbClr val="181D2B"/>
                </a:solidFill>
                <a:latin typeface="+mj-lt"/>
                <a:ea typeface="Agrandir Bold"/>
                <a:cs typeface="Agrandir Bold"/>
                <a:sym typeface="Agrandir Bold"/>
              </a:rPr>
              <a:t>Chat (GUI) via TCP</a:t>
            </a:r>
          </a:p>
        </p:txBody>
      </p:sp>
      <p:sp>
        <p:nvSpPr>
          <p:cNvPr id="12" name="TextBox 12"/>
          <p:cNvSpPr txBox="1"/>
          <p:nvPr/>
        </p:nvSpPr>
        <p:spPr>
          <a:xfrm>
            <a:off x="4783278" y="962025"/>
            <a:ext cx="8721443" cy="523875"/>
          </a:xfrm>
          <a:prstGeom prst="rect">
            <a:avLst/>
          </a:prstGeom>
        </p:spPr>
        <p:txBody>
          <a:bodyPr lIns="0" tIns="0" rIns="0" bIns="0" rtlCol="0" anchor="t">
            <a:spAutoFit/>
          </a:bodyPr>
          <a:lstStyle/>
          <a:p>
            <a:pPr marL="0" lvl="0" indent="0" algn="ctr">
              <a:lnSpc>
                <a:spcPts val="4200"/>
              </a:lnSpc>
            </a:pPr>
            <a:r>
              <a:rPr lang="en-US" sz="3000" spc="89" dirty="0">
                <a:solidFill>
                  <a:srgbClr val="181D2B"/>
                </a:solidFill>
                <a:latin typeface="+mj-lt"/>
                <a:ea typeface="Open Sauce"/>
                <a:cs typeface="Open Sauce"/>
                <a:sym typeface="Open Sauce"/>
              </a:rPr>
              <a:t>BÀI THUYẾT TRÌNH MÔN LẬP TRÌNH MẠNG</a:t>
            </a:r>
          </a:p>
        </p:txBody>
      </p:sp>
      <p:sp>
        <p:nvSpPr>
          <p:cNvPr id="13" name="TextBox 13"/>
          <p:cNvSpPr txBox="1"/>
          <p:nvPr/>
        </p:nvSpPr>
        <p:spPr>
          <a:xfrm>
            <a:off x="2071438" y="8847983"/>
            <a:ext cx="3817770" cy="372746"/>
          </a:xfrm>
          <a:prstGeom prst="rect">
            <a:avLst/>
          </a:prstGeom>
        </p:spPr>
        <p:txBody>
          <a:bodyPr lIns="0" tIns="0" rIns="0" bIns="0" rtlCol="0" anchor="t">
            <a:spAutoFit/>
          </a:bodyPr>
          <a:lstStyle/>
          <a:p>
            <a:pPr marL="0" lvl="0" indent="0" algn="l">
              <a:lnSpc>
                <a:spcPts val="3079"/>
              </a:lnSpc>
            </a:pPr>
            <a:r>
              <a:rPr lang="en-US" sz="2199" spc="10">
                <a:solidFill>
                  <a:srgbClr val="181D2B"/>
                </a:solidFill>
                <a:latin typeface="+mj-lt"/>
                <a:ea typeface="Open Sauce"/>
                <a:cs typeface="Open Sauce"/>
                <a:sym typeface="Open Sauce"/>
              </a:rPr>
              <a:t>GVHD: Mai Ngọc Châu</a:t>
            </a:r>
          </a:p>
        </p:txBody>
      </p:sp>
      <p:sp>
        <p:nvSpPr>
          <p:cNvPr id="14" name="TextBox 14"/>
          <p:cNvSpPr txBox="1"/>
          <p:nvPr/>
        </p:nvSpPr>
        <p:spPr>
          <a:xfrm>
            <a:off x="15353130" y="8934217"/>
            <a:ext cx="1411486" cy="506350"/>
          </a:xfrm>
          <a:prstGeom prst="rect">
            <a:avLst/>
          </a:prstGeom>
        </p:spPr>
        <p:txBody>
          <a:bodyPr lIns="0" tIns="0" rIns="0" bIns="0" rtlCol="0" anchor="t">
            <a:spAutoFit/>
          </a:bodyPr>
          <a:lstStyle/>
          <a:p>
            <a:pPr algn="ctr">
              <a:lnSpc>
                <a:spcPts val="4115"/>
              </a:lnSpc>
              <a:spcBef>
                <a:spcPct val="0"/>
              </a:spcBef>
            </a:pPr>
            <a:r>
              <a:rPr lang="en-US" sz="2939">
                <a:solidFill>
                  <a:srgbClr val="000000"/>
                </a:solidFill>
                <a:latin typeface="+mj-lt"/>
                <a:ea typeface="Open Sauce"/>
                <a:cs typeface="Open Sauce"/>
                <a:sym typeface="Open Sauce"/>
              </a:rPr>
              <a:t>Nhóm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5400000">
            <a:off x="-2524664" y="2098455"/>
            <a:ext cx="12568167" cy="5461440"/>
          </a:xfrm>
          <a:custGeom>
            <a:avLst/>
            <a:gdLst/>
            <a:ahLst/>
            <a:cxnLst/>
            <a:rect l="l" t="t" r="r" b="b"/>
            <a:pathLst>
              <a:path w="12568167" h="5461440">
                <a:moveTo>
                  <a:pt x="0" y="0"/>
                </a:moveTo>
                <a:lnTo>
                  <a:pt x="12568167" y="0"/>
                </a:lnTo>
                <a:lnTo>
                  <a:pt x="12568167" y="5461440"/>
                </a:lnTo>
                <a:lnTo>
                  <a:pt x="0" y="5461440"/>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vi-VN"/>
          </a:p>
        </p:txBody>
      </p:sp>
      <p:sp>
        <p:nvSpPr>
          <p:cNvPr id="3" name="TextBox 3"/>
          <p:cNvSpPr txBox="1"/>
          <p:nvPr/>
        </p:nvSpPr>
        <p:spPr>
          <a:xfrm>
            <a:off x="7031730" y="1071683"/>
            <a:ext cx="4224540" cy="894219"/>
          </a:xfrm>
          <a:prstGeom prst="rect">
            <a:avLst/>
          </a:prstGeom>
        </p:spPr>
        <p:txBody>
          <a:bodyPr lIns="0" tIns="0" rIns="0" bIns="0" rtlCol="0" anchor="t">
            <a:spAutoFit/>
          </a:bodyPr>
          <a:lstStyle/>
          <a:p>
            <a:pPr marL="0" lvl="0" indent="0" algn="l">
              <a:lnSpc>
                <a:spcPts val="7603"/>
              </a:lnSpc>
            </a:pPr>
            <a:r>
              <a:rPr lang="en-US" sz="5431" b="1">
                <a:solidFill>
                  <a:srgbClr val="2B598F"/>
                </a:solidFill>
                <a:latin typeface="Times New Roman" panose="02020603050405020304" pitchFamily="18" charset="0"/>
                <a:ea typeface="Agrandir Bold"/>
                <a:cs typeface="Times New Roman" panose="02020603050405020304" pitchFamily="18" charset="0"/>
                <a:sym typeface="Agrandir Bold"/>
              </a:rPr>
              <a:t>Thành viên</a:t>
            </a:r>
          </a:p>
        </p:txBody>
      </p:sp>
      <p:sp>
        <p:nvSpPr>
          <p:cNvPr id="4" name="TextBox 4"/>
          <p:cNvSpPr txBox="1"/>
          <p:nvPr/>
        </p:nvSpPr>
        <p:spPr>
          <a:xfrm>
            <a:off x="6630062" y="2597061"/>
            <a:ext cx="4423053" cy="596900"/>
          </a:xfrm>
          <a:prstGeom prst="rect">
            <a:avLst/>
          </a:prstGeom>
        </p:spPr>
        <p:txBody>
          <a:bodyPr lIns="0" tIns="0" rIns="0" bIns="0" rtlCol="0" anchor="t">
            <a:spAutoFit/>
          </a:bodyPr>
          <a:lstStyle/>
          <a:p>
            <a:pPr algn="ctr">
              <a:lnSpc>
                <a:spcPts val="4900"/>
              </a:lnSpc>
              <a:spcBef>
                <a:spcPct val="0"/>
              </a:spcBef>
            </a:pPr>
            <a:r>
              <a:rPr lang="en-US" sz="3500">
                <a:solidFill>
                  <a:srgbClr val="2B598F"/>
                </a:solidFill>
                <a:latin typeface="Times New Roman" panose="02020603050405020304" pitchFamily="18" charset="0"/>
                <a:ea typeface="Open Sauce"/>
                <a:cs typeface="Times New Roman" panose="02020603050405020304" pitchFamily="18" charset="0"/>
                <a:sym typeface="Open Sauce"/>
              </a:rPr>
              <a:t>Mai Nguyễn Nam Hải</a:t>
            </a:r>
          </a:p>
        </p:txBody>
      </p:sp>
      <p:sp>
        <p:nvSpPr>
          <p:cNvPr id="5" name="TextBox 5"/>
          <p:cNvSpPr txBox="1"/>
          <p:nvPr/>
        </p:nvSpPr>
        <p:spPr>
          <a:xfrm>
            <a:off x="7176321" y="3632110"/>
            <a:ext cx="4079949" cy="1202830"/>
          </a:xfrm>
          <a:prstGeom prst="rect">
            <a:avLst/>
          </a:prstGeom>
        </p:spPr>
        <p:txBody>
          <a:bodyPr wrap="square" lIns="0" tIns="0" rIns="0" bIns="0" rtlCol="0" anchor="t">
            <a:spAutoFit/>
          </a:bodyPr>
          <a:lstStyle/>
          <a:p>
            <a:pPr algn="just">
              <a:lnSpc>
                <a:spcPts val="4900"/>
              </a:lnSpc>
              <a:spcBef>
                <a:spcPct val="0"/>
              </a:spcBef>
            </a:pPr>
            <a:r>
              <a:rPr lang="en-US" sz="3500" dirty="0">
                <a:solidFill>
                  <a:srgbClr val="2B598F"/>
                </a:solidFill>
                <a:latin typeface="Times New Roman" panose="02020603050405020304" pitchFamily="18" charset="0"/>
                <a:ea typeface="Open Sauce"/>
                <a:cs typeface="Times New Roman" panose="02020603050405020304" pitchFamily="18" charset="0"/>
                <a:sym typeface="Open Sauce"/>
              </a:rPr>
              <a:t>Phạm Minh Tâm</a:t>
            </a:r>
          </a:p>
          <a:p>
            <a:pPr algn="just">
              <a:lnSpc>
                <a:spcPts val="4900"/>
              </a:lnSpc>
              <a:spcBef>
                <a:spcPct val="0"/>
              </a:spcBef>
            </a:pPr>
            <a:endParaRPr lang="en-US" sz="3500" dirty="0">
              <a:solidFill>
                <a:srgbClr val="2B598F"/>
              </a:solidFill>
              <a:latin typeface="Times New Roman" panose="02020603050405020304" pitchFamily="18" charset="0"/>
              <a:ea typeface="Open Sauce"/>
              <a:cs typeface="Times New Roman" panose="02020603050405020304" pitchFamily="18" charset="0"/>
              <a:sym typeface="Open Sauce"/>
            </a:endParaRPr>
          </a:p>
        </p:txBody>
      </p:sp>
      <p:sp>
        <p:nvSpPr>
          <p:cNvPr id="6" name="TextBox 6"/>
          <p:cNvSpPr txBox="1"/>
          <p:nvPr/>
        </p:nvSpPr>
        <p:spPr>
          <a:xfrm>
            <a:off x="7450343" y="4781460"/>
            <a:ext cx="3602772" cy="1216025"/>
          </a:xfrm>
          <a:prstGeom prst="rect">
            <a:avLst/>
          </a:prstGeom>
        </p:spPr>
        <p:txBody>
          <a:bodyPr wrap="square" lIns="0" tIns="0" rIns="0" bIns="0" rtlCol="0" anchor="t">
            <a:spAutoFit/>
          </a:bodyPr>
          <a:lstStyle/>
          <a:p>
            <a:pPr algn="just">
              <a:lnSpc>
                <a:spcPts val="4900"/>
              </a:lnSpc>
              <a:spcBef>
                <a:spcPct val="0"/>
              </a:spcBef>
            </a:pPr>
            <a:r>
              <a:rPr lang="en-US" sz="3500" dirty="0">
                <a:solidFill>
                  <a:srgbClr val="2B598F"/>
                </a:solidFill>
                <a:latin typeface="Times New Roman" panose="02020603050405020304" pitchFamily="18" charset="0"/>
                <a:ea typeface="Open Sauce"/>
                <a:cs typeface="Times New Roman" panose="02020603050405020304" pitchFamily="18" charset="0"/>
                <a:sym typeface="Open Sauce"/>
              </a:rPr>
              <a:t>Võ Tuấn Nhật</a:t>
            </a:r>
          </a:p>
          <a:p>
            <a:pPr algn="just">
              <a:lnSpc>
                <a:spcPts val="4900"/>
              </a:lnSpc>
              <a:spcBef>
                <a:spcPct val="0"/>
              </a:spcBef>
            </a:pPr>
            <a:endParaRPr lang="en-US" sz="3500" dirty="0">
              <a:solidFill>
                <a:srgbClr val="2B598F"/>
              </a:solidFill>
              <a:latin typeface="Times New Roman" panose="02020603050405020304" pitchFamily="18" charset="0"/>
              <a:ea typeface="Open Sauce"/>
              <a:cs typeface="Times New Roman" panose="02020603050405020304" pitchFamily="18" charset="0"/>
              <a:sym typeface="Open Sauce"/>
            </a:endParaRPr>
          </a:p>
        </p:txBody>
      </p:sp>
      <p:sp>
        <p:nvSpPr>
          <p:cNvPr id="7" name="TextBox 7"/>
          <p:cNvSpPr txBox="1"/>
          <p:nvPr/>
        </p:nvSpPr>
        <p:spPr>
          <a:xfrm>
            <a:off x="7161021" y="5930810"/>
            <a:ext cx="3361134" cy="1216025"/>
          </a:xfrm>
          <a:prstGeom prst="rect">
            <a:avLst/>
          </a:prstGeom>
        </p:spPr>
        <p:txBody>
          <a:bodyPr lIns="0" tIns="0" rIns="0" bIns="0" rtlCol="0" anchor="t">
            <a:spAutoFit/>
          </a:bodyPr>
          <a:lstStyle/>
          <a:p>
            <a:pPr algn="ctr">
              <a:lnSpc>
                <a:spcPts val="4900"/>
              </a:lnSpc>
              <a:spcBef>
                <a:spcPct val="0"/>
              </a:spcBef>
            </a:pPr>
            <a:r>
              <a:rPr lang="en-US" sz="3500" dirty="0">
                <a:solidFill>
                  <a:srgbClr val="2B598F"/>
                </a:solidFill>
                <a:latin typeface="Times New Roman" panose="02020603050405020304" pitchFamily="18" charset="0"/>
                <a:ea typeface="Open Sauce"/>
                <a:cs typeface="Times New Roman" panose="02020603050405020304" pitchFamily="18" charset="0"/>
                <a:sym typeface="Open Sauce"/>
              </a:rPr>
              <a:t>Nguyễn </a:t>
            </a:r>
            <a:r>
              <a:rPr lang="en-US" sz="3500" dirty="0" err="1">
                <a:solidFill>
                  <a:srgbClr val="2B598F"/>
                </a:solidFill>
                <a:latin typeface="Times New Roman" panose="02020603050405020304" pitchFamily="18" charset="0"/>
                <a:ea typeface="Open Sauce"/>
                <a:cs typeface="Times New Roman" panose="02020603050405020304" pitchFamily="18" charset="0"/>
                <a:sym typeface="Open Sauce"/>
              </a:rPr>
              <a:t>Tấn</a:t>
            </a:r>
            <a:r>
              <a:rPr lang="en-US" sz="3500" dirty="0">
                <a:solidFill>
                  <a:srgbClr val="2B598F"/>
                </a:solidFill>
                <a:latin typeface="Times New Roman" panose="02020603050405020304" pitchFamily="18" charset="0"/>
                <a:ea typeface="Open Sauce"/>
                <a:cs typeface="Times New Roman" panose="02020603050405020304" pitchFamily="18" charset="0"/>
                <a:sym typeface="Open Sauce"/>
              </a:rPr>
              <a:t> Đạt</a:t>
            </a:r>
          </a:p>
          <a:p>
            <a:pPr algn="ctr">
              <a:lnSpc>
                <a:spcPts val="4900"/>
              </a:lnSpc>
              <a:spcBef>
                <a:spcPct val="0"/>
              </a:spcBef>
            </a:pPr>
            <a:endParaRPr lang="en-US" sz="3500" dirty="0">
              <a:solidFill>
                <a:srgbClr val="2B598F"/>
              </a:solidFill>
              <a:latin typeface="Times New Roman" panose="02020603050405020304" pitchFamily="18" charset="0"/>
              <a:ea typeface="Open Sauce"/>
              <a:cs typeface="Times New Roman" panose="02020603050405020304" pitchFamily="18" charset="0"/>
              <a:sym typeface="Open Sauce"/>
            </a:endParaRPr>
          </a:p>
        </p:txBody>
      </p:sp>
      <p:sp>
        <p:nvSpPr>
          <p:cNvPr id="8" name="TextBox 8"/>
          <p:cNvSpPr txBox="1"/>
          <p:nvPr/>
        </p:nvSpPr>
        <p:spPr>
          <a:xfrm>
            <a:off x="7176321" y="7146835"/>
            <a:ext cx="3242905" cy="1216025"/>
          </a:xfrm>
          <a:prstGeom prst="rect">
            <a:avLst/>
          </a:prstGeom>
        </p:spPr>
        <p:txBody>
          <a:bodyPr lIns="0" tIns="0" rIns="0" bIns="0" rtlCol="0" anchor="t">
            <a:spAutoFit/>
          </a:bodyPr>
          <a:lstStyle/>
          <a:p>
            <a:pPr algn="ctr">
              <a:lnSpc>
                <a:spcPts val="4900"/>
              </a:lnSpc>
              <a:spcBef>
                <a:spcPct val="0"/>
              </a:spcBef>
            </a:pPr>
            <a:r>
              <a:rPr lang="en-US" sz="3500" dirty="0">
                <a:solidFill>
                  <a:srgbClr val="2B598F"/>
                </a:solidFill>
                <a:latin typeface="Times New Roman" panose="02020603050405020304" pitchFamily="18" charset="0"/>
                <a:ea typeface="Open Sauce"/>
                <a:cs typeface="Times New Roman" panose="02020603050405020304" pitchFamily="18" charset="0"/>
                <a:sym typeface="Open Sauce"/>
              </a:rPr>
              <a:t>Phan Nhất Viên</a:t>
            </a:r>
          </a:p>
          <a:p>
            <a:pPr algn="ctr">
              <a:lnSpc>
                <a:spcPts val="4900"/>
              </a:lnSpc>
              <a:spcBef>
                <a:spcPct val="0"/>
              </a:spcBef>
            </a:pPr>
            <a:endParaRPr lang="en-US" sz="3500" dirty="0">
              <a:solidFill>
                <a:srgbClr val="2B598F"/>
              </a:solidFill>
              <a:latin typeface="Times New Roman" panose="02020603050405020304" pitchFamily="18" charset="0"/>
              <a:ea typeface="Open Sauce"/>
              <a:cs typeface="Times New Roman" panose="02020603050405020304" pitchFamily="18" charset="0"/>
              <a:sym typeface="Open Sauc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a:off x="13299025" y="2121870"/>
            <a:ext cx="6095650" cy="6095650"/>
          </a:xfrm>
          <a:custGeom>
            <a:avLst/>
            <a:gdLst/>
            <a:ahLst/>
            <a:cxnLst/>
            <a:rect l="l" t="t" r="r" b="b"/>
            <a:pathLst>
              <a:path w="6095650" h="6095650">
                <a:moveTo>
                  <a:pt x="0" y="0"/>
                </a:moveTo>
                <a:lnTo>
                  <a:pt x="6095649" y="0"/>
                </a:lnTo>
                <a:lnTo>
                  <a:pt x="6095649" y="6095650"/>
                </a:lnTo>
                <a:lnTo>
                  <a:pt x="0" y="6095650"/>
                </a:lnTo>
                <a:lnTo>
                  <a:pt x="0" y="0"/>
                </a:lnTo>
                <a:close/>
              </a:path>
            </a:pathLst>
          </a:custGeom>
          <a:blipFill>
            <a:blip>
              <a:extLst>
                <a:ext uri="{96DAC541-7B7A-43D3-8B79-37D633B846F1}">
                  <asvg:svgBlip xmlns:asvg="http://schemas.microsoft.com/office/drawing/2016/SVG/main" r:embed="rId2"/>
                </a:ext>
              </a:extLst>
            </a:blip>
            <a:stretch>
              <a:fillRect l="-31923" t="-30783" r="-30783" b="-31923"/>
            </a:stretch>
          </a:blipFill>
          <a:ln cap="rnd">
            <a:noFill/>
            <a:prstDash val="solid"/>
            <a:round/>
          </a:ln>
        </p:spPr>
        <p:txBody>
          <a:bodyPr/>
          <a:lstStyle/>
          <a:p>
            <a:endParaRPr lang="vi-VN"/>
          </a:p>
        </p:txBody>
      </p:sp>
      <p:sp>
        <p:nvSpPr>
          <p:cNvPr id="3" name="Freeform 3"/>
          <p:cNvSpPr/>
          <p:nvPr/>
        </p:nvSpPr>
        <p:spPr>
          <a:xfrm rot="-1431390">
            <a:off x="12715267" y="4888494"/>
            <a:ext cx="5664960" cy="3452330"/>
          </a:xfrm>
          <a:custGeom>
            <a:avLst/>
            <a:gdLst/>
            <a:ahLst/>
            <a:cxnLst/>
            <a:rect l="l" t="t" r="r" b="b"/>
            <a:pathLst>
              <a:path w="5664960" h="3452330">
                <a:moveTo>
                  <a:pt x="0" y="0"/>
                </a:moveTo>
                <a:lnTo>
                  <a:pt x="5664960" y="0"/>
                </a:lnTo>
                <a:lnTo>
                  <a:pt x="5664960" y="3452330"/>
                </a:lnTo>
                <a:lnTo>
                  <a:pt x="0" y="3452330"/>
                </a:lnTo>
                <a:lnTo>
                  <a:pt x="0" y="0"/>
                </a:lnTo>
                <a:close/>
              </a:path>
            </a:pathLst>
          </a:custGeom>
          <a:blipFill>
            <a:blip r:embed="rId3"/>
            <a:stretch>
              <a:fillRect/>
            </a:stretch>
          </a:blipFill>
        </p:spPr>
        <p:txBody>
          <a:bodyPr/>
          <a:lstStyle/>
          <a:p>
            <a:endParaRPr lang="vi-VN"/>
          </a:p>
        </p:txBody>
      </p:sp>
      <p:grpSp>
        <p:nvGrpSpPr>
          <p:cNvPr id="4" name="Group 4"/>
          <p:cNvGrpSpPr/>
          <p:nvPr/>
        </p:nvGrpSpPr>
        <p:grpSpPr>
          <a:xfrm>
            <a:off x="1786335" y="2669704"/>
            <a:ext cx="11867075" cy="2167257"/>
            <a:chOff x="0" y="0"/>
            <a:chExt cx="3131419" cy="571884"/>
          </a:xfrm>
        </p:grpSpPr>
        <p:sp>
          <p:nvSpPr>
            <p:cNvPr id="5" name="Freeform 5"/>
            <p:cNvSpPr/>
            <p:nvPr/>
          </p:nvSpPr>
          <p:spPr>
            <a:xfrm>
              <a:off x="0" y="0"/>
              <a:ext cx="3131419" cy="571884"/>
            </a:xfrm>
            <a:custGeom>
              <a:avLst/>
              <a:gdLst/>
              <a:ahLst/>
              <a:cxnLst/>
              <a:rect l="l" t="t" r="r" b="b"/>
              <a:pathLst>
                <a:path w="3131419" h="571884">
                  <a:moveTo>
                    <a:pt x="18919" y="0"/>
                  </a:moveTo>
                  <a:lnTo>
                    <a:pt x="3112500" y="0"/>
                  </a:lnTo>
                  <a:cubicBezTo>
                    <a:pt x="3122948" y="0"/>
                    <a:pt x="3131419" y="8470"/>
                    <a:pt x="3131419" y="18919"/>
                  </a:cubicBezTo>
                  <a:lnTo>
                    <a:pt x="3131419" y="552965"/>
                  </a:lnTo>
                  <a:cubicBezTo>
                    <a:pt x="3131419" y="557982"/>
                    <a:pt x="3129425" y="562794"/>
                    <a:pt x="3125877" y="566342"/>
                  </a:cubicBezTo>
                  <a:cubicBezTo>
                    <a:pt x="3122329" y="569891"/>
                    <a:pt x="3117517" y="571884"/>
                    <a:pt x="3112500" y="571884"/>
                  </a:cubicBezTo>
                  <a:lnTo>
                    <a:pt x="18919" y="571884"/>
                  </a:lnTo>
                  <a:cubicBezTo>
                    <a:pt x="13902" y="571884"/>
                    <a:pt x="9089" y="569891"/>
                    <a:pt x="5541" y="566342"/>
                  </a:cubicBezTo>
                  <a:cubicBezTo>
                    <a:pt x="1993" y="562794"/>
                    <a:pt x="0" y="557982"/>
                    <a:pt x="0" y="552965"/>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6" name="TextBox 6"/>
            <p:cNvSpPr txBox="1"/>
            <p:nvPr/>
          </p:nvSpPr>
          <p:spPr>
            <a:xfrm>
              <a:off x="0" y="-38100"/>
              <a:ext cx="3131419" cy="609984"/>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7" name="TextBox 7"/>
          <p:cNvSpPr txBox="1"/>
          <p:nvPr/>
        </p:nvSpPr>
        <p:spPr>
          <a:xfrm>
            <a:off x="2192121" y="3054164"/>
            <a:ext cx="11048426" cy="1350757"/>
          </a:xfrm>
          <a:prstGeom prst="rect">
            <a:avLst/>
          </a:prstGeom>
        </p:spPr>
        <p:txBody>
          <a:bodyPr lIns="0" tIns="0" rIns="0" bIns="0" rtlCol="0" anchor="t">
            <a:spAutoFit/>
          </a:bodyPr>
          <a:lstStyle/>
          <a:p>
            <a:pPr marL="0" lvl="0" indent="0" algn="l">
              <a:lnSpc>
                <a:spcPts val="3630"/>
              </a:lnSpc>
              <a:spcBef>
                <a:spcPct val="0"/>
              </a:spcBef>
            </a:pP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Tính</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thực</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tiễn</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cao</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Mô</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phỏng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luồng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trao</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đổi</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dữ</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liệu</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của</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các</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ứng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dụng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giao</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tiếp</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phổ</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biến</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như</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Zalo</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Messenger -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giúp</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hiểu</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rõ</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cách</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hoạt</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động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của</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ứng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dụng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chat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thực</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tế</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a:t>
            </a:r>
          </a:p>
        </p:txBody>
      </p:sp>
      <p:sp>
        <p:nvSpPr>
          <p:cNvPr id="8" name="Freeform 8"/>
          <p:cNvSpPr/>
          <p:nvPr/>
        </p:nvSpPr>
        <p:spPr>
          <a:xfrm>
            <a:off x="1028700" y="3661953"/>
            <a:ext cx="586747" cy="223355"/>
          </a:xfrm>
          <a:custGeom>
            <a:avLst/>
            <a:gdLst/>
            <a:ahLst/>
            <a:cxnLst/>
            <a:rect l="l" t="t" r="r" b="b"/>
            <a:pathLst>
              <a:path w="586747" h="223355">
                <a:moveTo>
                  <a:pt x="0" y="0"/>
                </a:moveTo>
                <a:lnTo>
                  <a:pt x="586747" y="0"/>
                </a:lnTo>
                <a:lnTo>
                  <a:pt x="586747" y="223356"/>
                </a:lnTo>
                <a:lnTo>
                  <a:pt x="0" y="2233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grpSp>
        <p:nvGrpSpPr>
          <p:cNvPr id="9" name="Group 9"/>
          <p:cNvGrpSpPr/>
          <p:nvPr/>
        </p:nvGrpSpPr>
        <p:grpSpPr>
          <a:xfrm>
            <a:off x="1786335" y="5096134"/>
            <a:ext cx="11867075" cy="2167257"/>
            <a:chOff x="0" y="0"/>
            <a:chExt cx="3131419" cy="571884"/>
          </a:xfrm>
        </p:grpSpPr>
        <p:sp>
          <p:nvSpPr>
            <p:cNvPr id="10" name="Freeform 10"/>
            <p:cNvSpPr/>
            <p:nvPr/>
          </p:nvSpPr>
          <p:spPr>
            <a:xfrm>
              <a:off x="0" y="0"/>
              <a:ext cx="3131419" cy="571884"/>
            </a:xfrm>
            <a:custGeom>
              <a:avLst/>
              <a:gdLst/>
              <a:ahLst/>
              <a:cxnLst/>
              <a:rect l="l" t="t" r="r" b="b"/>
              <a:pathLst>
                <a:path w="3131419" h="571884">
                  <a:moveTo>
                    <a:pt x="18919" y="0"/>
                  </a:moveTo>
                  <a:lnTo>
                    <a:pt x="3112500" y="0"/>
                  </a:lnTo>
                  <a:cubicBezTo>
                    <a:pt x="3122948" y="0"/>
                    <a:pt x="3131419" y="8470"/>
                    <a:pt x="3131419" y="18919"/>
                  </a:cubicBezTo>
                  <a:lnTo>
                    <a:pt x="3131419" y="552965"/>
                  </a:lnTo>
                  <a:cubicBezTo>
                    <a:pt x="3131419" y="557982"/>
                    <a:pt x="3129425" y="562794"/>
                    <a:pt x="3125877" y="566342"/>
                  </a:cubicBezTo>
                  <a:cubicBezTo>
                    <a:pt x="3122329" y="569891"/>
                    <a:pt x="3117517" y="571884"/>
                    <a:pt x="3112500" y="571884"/>
                  </a:cubicBezTo>
                  <a:lnTo>
                    <a:pt x="18919" y="571884"/>
                  </a:lnTo>
                  <a:cubicBezTo>
                    <a:pt x="13902" y="571884"/>
                    <a:pt x="9089" y="569891"/>
                    <a:pt x="5541" y="566342"/>
                  </a:cubicBezTo>
                  <a:cubicBezTo>
                    <a:pt x="1993" y="562794"/>
                    <a:pt x="0" y="557982"/>
                    <a:pt x="0" y="552965"/>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3131419" cy="609984"/>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2192121" y="5480595"/>
            <a:ext cx="11048426" cy="885884"/>
          </a:xfrm>
          <a:prstGeom prst="rect">
            <a:avLst/>
          </a:prstGeom>
        </p:spPr>
        <p:txBody>
          <a:bodyPr lIns="0" tIns="0" rIns="0" bIns="0" rtlCol="0" anchor="t">
            <a:spAutoFit/>
          </a:bodyPr>
          <a:lstStyle/>
          <a:p>
            <a:pPr marL="0" lvl="0" indent="0" algn="l">
              <a:lnSpc>
                <a:spcPts val="3630"/>
              </a:lnSpc>
              <a:spcBef>
                <a:spcPct val="0"/>
              </a:spcBef>
            </a:pP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Củng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cố</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kiến</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thức</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lõi</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Vận</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dụng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giao</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thức</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mạng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TCP,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mô</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hình</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Client-Server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và</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lập</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trình</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Socket -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nền</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tảng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quan</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trọng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cho</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lập</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trình</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mạng</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chuyên</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3"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nghiệp</a:t>
            </a:r>
            <a:r>
              <a:rPr lang="en-US" sz="2593"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a:t>
            </a:r>
          </a:p>
        </p:txBody>
      </p:sp>
      <p:sp>
        <p:nvSpPr>
          <p:cNvPr id="13" name="Freeform 13"/>
          <p:cNvSpPr/>
          <p:nvPr/>
        </p:nvSpPr>
        <p:spPr>
          <a:xfrm>
            <a:off x="1028700" y="6088384"/>
            <a:ext cx="586747" cy="223355"/>
          </a:xfrm>
          <a:custGeom>
            <a:avLst/>
            <a:gdLst/>
            <a:ahLst/>
            <a:cxnLst/>
            <a:rect l="l" t="t" r="r" b="b"/>
            <a:pathLst>
              <a:path w="586747" h="223355">
                <a:moveTo>
                  <a:pt x="0" y="0"/>
                </a:moveTo>
                <a:lnTo>
                  <a:pt x="586747" y="0"/>
                </a:lnTo>
                <a:lnTo>
                  <a:pt x="586747" y="223355"/>
                </a:lnTo>
                <a:lnTo>
                  <a:pt x="0" y="2233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4" name="TextBox 14"/>
          <p:cNvSpPr txBox="1"/>
          <p:nvPr/>
        </p:nvSpPr>
        <p:spPr>
          <a:xfrm>
            <a:off x="1028700" y="600075"/>
            <a:ext cx="12270325" cy="1767362"/>
          </a:xfrm>
          <a:prstGeom prst="rect">
            <a:avLst/>
          </a:prstGeom>
        </p:spPr>
        <p:txBody>
          <a:bodyPr lIns="0" tIns="0" rIns="0" bIns="0" rtlCol="0" anchor="t">
            <a:spAutoFit/>
          </a:bodyPr>
          <a:lstStyle/>
          <a:p>
            <a:pPr marL="0" lvl="0" indent="0" algn="l">
              <a:lnSpc>
                <a:spcPts val="12311"/>
              </a:lnSpc>
              <a:spcBef>
                <a:spcPct val="0"/>
              </a:spcBef>
            </a:pPr>
            <a:r>
              <a:rPr lang="en-US" sz="8793" b="1" u="none" strike="noStrike">
                <a:solidFill>
                  <a:srgbClr val="2B598F"/>
                </a:solidFill>
                <a:latin typeface="Agrandir Bold"/>
                <a:ea typeface="Agrandir Bold"/>
                <a:cs typeface="Agrandir Bold"/>
                <a:sym typeface="Agrandir Bold"/>
              </a:rPr>
              <a:t>Lý do chọn đề tài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a:off x="13299025" y="2121870"/>
            <a:ext cx="6095650" cy="6095650"/>
          </a:xfrm>
          <a:custGeom>
            <a:avLst/>
            <a:gdLst/>
            <a:ahLst/>
            <a:cxnLst/>
            <a:rect l="l" t="t" r="r" b="b"/>
            <a:pathLst>
              <a:path w="6095650" h="6095650">
                <a:moveTo>
                  <a:pt x="0" y="0"/>
                </a:moveTo>
                <a:lnTo>
                  <a:pt x="6095649" y="0"/>
                </a:lnTo>
                <a:lnTo>
                  <a:pt x="6095649" y="6095650"/>
                </a:lnTo>
                <a:lnTo>
                  <a:pt x="0" y="6095650"/>
                </a:lnTo>
                <a:lnTo>
                  <a:pt x="0" y="0"/>
                </a:lnTo>
                <a:close/>
              </a:path>
            </a:pathLst>
          </a:custGeom>
          <a:blipFill>
            <a:blip>
              <a:extLst>
                <a:ext uri="{96DAC541-7B7A-43D3-8B79-37D633B846F1}">
                  <asvg:svgBlip xmlns:asvg="http://schemas.microsoft.com/office/drawing/2016/SVG/main" r:embed="rId2"/>
                </a:ext>
              </a:extLst>
            </a:blip>
            <a:stretch>
              <a:fillRect l="-31923" t="-30783" r="-30783" b="-31923"/>
            </a:stretch>
          </a:blipFill>
          <a:ln cap="rnd">
            <a:noFill/>
            <a:prstDash val="solid"/>
            <a:round/>
          </a:ln>
        </p:spPr>
        <p:txBody>
          <a:bodyPr/>
          <a:lstStyle/>
          <a:p>
            <a:endParaRPr lang="vi-VN"/>
          </a:p>
        </p:txBody>
      </p:sp>
      <p:sp>
        <p:nvSpPr>
          <p:cNvPr id="3" name="Freeform 3"/>
          <p:cNvSpPr/>
          <p:nvPr/>
        </p:nvSpPr>
        <p:spPr>
          <a:xfrm rot="-1431390">
            <a:off x="12959513" y="4034777"/>
            <a:ext cx="5206780" cy="5206780"/>
          </a:xfrm>
          <a:custGeom>
            <a:avLst/>
            <a:gdLst/>
            <a:ahLst/>
            <a:cxnLst/>
            <a:rect l="l" t="t" r="r" b="b"/>
            <a:pathLst>
              <a:path w="5206780" h="5206780">
                <a:moveTo>
                  <a:pt x="0" y="0"/>
                </a:moveTo>
                <a:lnTo>
                  <a:pt x="5206781" y="0"/>
                </a:lnTo>
                <a:lnTo>
                  <a:pt x="5206781" y="5206780"/>
                </a:lnTo>
                <a:lnTo>
                  <a:pt x="0" y="5206780"/>
                </a:lnTo>
                <a:lnTo>
                  <a:pt x="0" y="0"/>
                </a:lnTo>
                <a:close/>
              </a:path>
            </a:pathLst>
          </a:custGeom>
          <a:blipFill>
            <a:blip r:embed="rId3"/>
            <a:stretch>
              <a:fillRect/>
            </a:stretch>
          </a:blipFill>
        </p:spPr>
        <p:txBody>
          <a:bodyPr/>
          <a:lstStyle/>
          <a:p>
            <a:endParaRPr lang="vi-VN"/>
          </a:p>
        </p:txBody>
      </p:sp>
      <p:grpSp>
        <p:nvGrpSpPr>
          <p:cNvPr id="4" name="Group 4"/>
          <p:cNvGrpSpPr/>
          <p:nvPr/>
        </p:nvGrpSpPr>
        <p:grpSpPr>
          <a:xfrm>
            <a:off x="1786335" y="2669704"/>
            <a:ext cx="11867075" cy="2167257"/>
            <a:chOff x="0" y="0"/>
            <a:chExt cx="3131419" cy="571884"/>
          </a:xfrm>
        </p:grpSpPr>
        <p:sp>
          <p:nvSpPr>
            <p:cNvPr id="5" name="Freeform 5"/>
            <p:cNvSpPr/>
            <p:nvPr/>
          </p:nvSpPr>
          <p:spPr>
            <a:xfrm>
              <a:off x="0" y="0"/>
              <a:ext cx="3131419" cy="571884"/>
            </a:xfrm>
            <a:custGeom>
              <a:avLst/>
              <a:gdLst/>
              <a:ahLst/>
              <a:cxnLst/>
              <a:rect l="l" t="t" r="r" b="b"/>
              <a:pathLst>
                <a:path w="3131419" h="571884">
                  <a:moveTo>
                    <a:pt x="18919" y="0"/>
                  </a:moveTo>
                  <a:lnTo>
                    <a:pt x="3112500" y="0"/>
                  </a:lnTo>
                  <a:cubicBezTo>
                    <a:pt x="3122948" y="0"/>
                    <a:pt x="3131419" y="8470"/>
                    <a:pt x="3131419" y="18919"/>
                  </a:cubicBezTo>
                  <a:lnTo>
                    <a:pt x="3131419" y="552965"/>
                  </a:lnTo>
                  <a:cubicBezTo>
                    <a:pt x="3131419" y="557982"/>
                    <a:pt x="3129425" y="562794"/>
                    <a:pt x="3125877" y="566342"/>
                  </a:cubicBezTo>
                  <a:cubicBezTo>
                    <a:pt x="3122329" y="569891"/>
                    <a:pt x="3117517" y="571884"/>
                    <a:pt x="3112500" y="571884"/>
                  </a:cubicBezTo>
                  <a:lnTo>
                    <a:pt x="18919" y="571884"/>
                  </a:lnTo>
                  <a:cubicBezTo>
                    <a:pt x="13902" y="571884"/>
                    <a:pt x="9089" y="569891"/>
                    <a:pt x="5541" y="566342"/>
                  </a:cubicBezTo>
                  <a:cubicBezTo>
                    <a:pt x="1993" y="562794"/>
                    <a:pt x="0" y="557982"/>
                    <a:pt x="0" y="552965"/>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6" name="TextBox 6"/>
            <p:cNvSpPr txBox="1"/>
            <p:nvPr/>
          </p:nvSpPr>
          <p:spPr>
            <a:xfrm>
              <a:off x="0" y="-38100"/>
              <a:ext cx="3131419" cy="609984"/>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7" name="TextBox 7"/>
          <p:cNvSpPr txBox="1"/>
          <p:nvPr/>
        </p:nvSpPr>
        <p:spPr>
          <a:xfrm>
            <a:off x="2192121" y="3054164"/>
            <a:ext cx="11048426" cy="894424"/>
          </a:xfrm>
          <a:prstGeom prst="rect">
            <a:avLst/>
          </a:prstGeom>
        </p:spPr>
        <p:txBody>
          <a:bodyPr lIns="0" tIns="0" rIns="0" bIns="0" rtlCol="0" anchor="t">
            <a:spAutoFit/>
          </a:bodyPr>
          <a:lstStyle/>
          <a:p>
            <a:pPr marL="0" lvl="0" indent="0" algn="l">
              <a:lnSpc>
                <a:spcPts val="3630"/>
              </a:lnSpc>
              <a:spcBef>
                <a:spcPct val="0"/>
              </a:spcBef>
            </a:pPr>
            <a:r>
              <a:rPr lang="en-US" sz="2593"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Phát triển kỹ năng toàn diện: Xử lý kết nối mạng, quản lý đa người dùng đồng thời, thiết kế giao diện GUI chuyên nghiệp với Windows Forms.</a:t>
            </a:r>
          </a:p>
        </p:txBody>
      </p:sp>
      <p:sp>
        <p:nvSpPr>
          <p:cNvPr id="8" name="Freeform 8"/>
          <p:cNvSpPr/>
          <p:nvPr/>
        </p:nvSpPr>
        <p:spPr>
          <a:xfrm>
            <a:off x="1028700" y="3661953"/>
            <a:ext cx="586747" cy="223355"/>
          </a:xfrm>
          <a:custGeom>
            <a:avLst/>
            <a:gdLst/>
            <a:ahLst/>
            <a:cxnLst/>
            <a:rect l="l" t="t" r="r" b="b"/>
            <a:pathLst>
              <a:path w="586747" h="223355">
                <a:moveTo>
                  <a:pt x="0" y="0"/>
                </a:moveTo>
                <a:lnTo>
                  <a:pt x="586747" y="0"/>
                </a:lnTo>
                <a:lnTo>
                  <a:pt x="586747" y="223356"/>
                </a:lnTo>
                <a:lnTo>
                  <a:pt x="0" y="2233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grpSp>
        <p:nvGrpSpPr>
          <p:cNvPr id="9" name="Group 9"/>
          <p:cNvGrpSpPr/>
          <p:nvPr/>
        </p:nvGrpSpPr>
        <p:grpSpPr>
          <a:xfrm>
            <a:off x="1786335" y="5096134"/>
            <a:ext cx="11867075" cy="2167257"/>
            <a:chOff x="0" y="0"/>
            <a:chExt cx="3131419" cy="571884"/>
          </a:xfrm>
        </p:grpSpPr>
        <p:sp>
          <p:nvSpPr>
            <p:cNvPr id="10" name="Freeform 10"/>
            <p:cNvSpPr/>
            <p:nvPr/>
          </p:nvSpPr>
          <p:spPr>
            <a:xfrm>
              <a:off x="0" y="0"/>
              <a:ext cx="3131419" cy="571884"/>
            </a:xfrm>
            <a:custGeom>
              <a:avLst/>
              <a:gdLst/>
              <a:ahLst/>
              <a:cxnLst/>
              <a:rect l="l" t="t" r="r" b="b"/>
              <a:pathLst>
                <a:path w="3131419" h="571884">
                  <a:moveTo>
                    <a:pt x="18919" y="0"/>
                  </a:moveTo>
                  <a:lnTo>
                    <a:pt x="3112500" y="0"/>
                  </a:lnTo>
                  <a:cubicBezTo>
                    <a:pt x="3122948" y="0"/>
                    <a:pt x="3131419" y="8470"/>
                    <a:pt x="3131419" y="18919"/>
                  </a:cubicBezTo>
                  <a:lnTo>
                    <a:pt x="3131419" y="552965"/>
                  </a:lnTo>
                  <a:cubicBezTo>
                    <a:pt x="3131419" y="557982"/>
                    <a:pt x="3129425" y="562794"/>
                    <a:pt x="3125877" y="566342"/>
                  </a:cubicBezTo>
                  <a:cubicBezTo>
                    <a:pt x="3122329" y="569891"/>
                    <a:pt x="3117517" y="571884"/>
                    <a:pt x="3112500" y="571884"/>
                  </a:cubicBezTo>
                  <a:lnTo>
                    <a:pt x="18919" y="571884"/>
                  </a:lnTo>
                  <a:cubicBezTo>
                    <a:pt x="13902" y="571884"/>
                    <a:pt x="9089" y="569891"/>
                    <a:pt x="5541" y="566342"/>
                  </a:cubicBezTo>
                  <a:cubicBezTo>
                    <a:pt x="1993" y="562794"/>
                    <a:pt x="0" y="557982"/>
                    <a:pt x="0" y="552965"/>
                  </a:cubicBezTo>
                  <a:lnTo>
                    <a:pt x="0" y="18919"/>
                  </a:lnTo>
                  <a:cubicBezTo>
                    <a:pt x="0" y="13902"/>
                    <a:pt x="1993" y="9089"/>
                    <a:pt x="5541" y="5541"/>
                  </a:cubicBezTo>
                  <a:cubicBezTo>
                    <a:pt x="9089" y="1993"/>
                    <a:pt x="13902" y="0"/>
                    <a:pt x="18919"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3131419" cy="609984"/>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2192121" y="5480595"/>
            <a:ext cx="11048426" cy="894424"/>
          </a:xfrm>
          <a:prstGeom prst="rect">
            <a:avLst/>
          </a:prstGeom>
        </p:spPr>
        <p:txBody>
          <a:bodyPr lIns="0" tIns="0" rIns="0" bIns="0" rtlCol="0" anchor="t">
            <a:spAutoFit/>
          </a:bodyPr>
          <a:lstStyle/>
          <a:p>
            <a:pPr marL="0" lvl="0" indent="0" algn="l">
              <a:lnSpc>
                <a:spcPts val="3630"/>
              </a:lnSpc>
              <a:spcBef>
                <a:spcPct val="0"/>
              </a:spcBef>
            </a:pPr>
            <a:r>
              <a:rPr lang="en-US" sz="2593"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Tiềm năng mở rộng: Nền tảng vững chắc để phát triển thêm tính năng gửi file, hình ảnh và mã hóa dữ liệu End-to-End trong tương lai.</a:t>
            </a:r>
          </a:p>
        </p:txBody>
      </p:sp>
      <p:sp>
        <p:nvSpPr>
          <p:cNvPr id="13" name="Freeform 13"/>
          <p:cNvSpPr/>
          <p:nvPr/>
        </p:nvSpPr>
        <p:spPr>
          <a:xfrm>
            <a:off x="1028700" y="6088384"/>
            <a:ext cx="586747" cy="223355"/>
          </a:xfrm>
          <a:custGeom>
            <a:avLst/>
            <a:gdLst/>
            <a:ahLst/>
            <a:cxnLst/>
            <a:rect l="l" t="t" r="r" b="b"/>
            <a:pathLst>
              <a:path w="586747" h="223355">
                <a:moveTo>
                  <a:pt x="0" y="0"/>
                </a:moveTo>
                <a:lnTo>
                  <a:pt x="586747" y="0"/>
                </a:lnTo>
                <a:lnTo>
                  <a:pt x="586747" y="223355"/>
                </a:lnTo>
                <a:lnTo>
                  <a:pt x="0" y="2233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4" name="Freeform 14"/>
          <p:cNvSpPr/>
          <p:nvPr/>
        </p:nvSpPr>
        <p:spPr>
          <a:xfrm>
            <a:off x="1027149" y="8387173"/>
            <a:ext cx="697121" cy="1124389"/>
          </a:xfrm>
          <a:custGeom>
            <a:avLst/>
            <a:gdLst/>
            <a:ahLst/>
            <a:cxnLst/>
            <a:rect l="l" t="t" r="r" b="b"/>
            <a:pathLst>
              <a:path w="697121" h="1124389">
                <a:moveTo>
                  <a:pt x="0" y="0"/>
                </a:moveTo>
                <a:lnTo>
                  <a:pt x="697121" y="0"/>
                </a:lnTo>
                <a:lnTo>
                  <a:pt x="697121" y="1124389"/>
                </a:lnTo>
                <a:lnTo>
                  <a:pt x="0" y="1124389"/>
                </a:lnTo>
                <a:lnTo>
                  <a:pt x="0" y="0"/>
                </a:lnTo>
                <a:close/>
              </a:path>
            </a:pathLst>
          </a:custGeom>
          <a:blipFill>
            <a:blip r:embed="rId5"/>
            <a:stretch>
              <a:fillRect/>
            </a:stretch>
          </a:blipFill>
          <a:ln cap="sq">
            <a:noFill/>
            <a:prstDash val="solid"/>
            <a:miter/>
          </a:ln>
        </p:spPr>
        <p:txBody>
          <a:bodyPr/>
          <a:lstStyle/>
          <a:p>
            <a:endParaRPr lang="vi-VN">
              <a:latin typeface="Times New Roman" panose="02020603050405020304" pitchFamily="18" charset="0"/>
              <a:cs typeface="Times New Roman" panose="02020603050405020304" pitchFamily="18" charset="0"/>
            </a:endParaRPr>
          </a:p>
        </p:txBody>
      </p:sp>
      <p:sp>
        <p:nvSpPr>
          <p:cNvPr id="15" name="TextBox 15"/>
          <p:cNvSpPr txBox="1"/>
          <p:nvPr/>
        </p:nvSpPr>
        <p:spPr>
          <a:xfrm>
            <a:off x="1028700" y="600075"/>
            <a:ext cx="12270325" cy="1447319"/>
          </a:xfrm>
          <a:prstGeom prst="rect">
            <a:avLst/>
          </a:prstGeom>
        </p:spPr>
        <p:txBody>
          <a:bodyPr lIns="0" tIns="0" rIns="0" bIns="0" rtlCol="0" anchor="t">
            <a:spAutoFit/>
          </a:bodyPr>
          <a:lstStyle/>
          <a:p>
            <a:pPr marL="0" lvl="0" indent="0" algn="l">
              <a:lnSpc>
                <a:spcPts val="12311"/>
              </a:lnSpc>
              <a:spcBef>
                <a:spcPct val="0"/>
              </a:spcBef>
            </a:pPr>
            <a:r>
              <a:rPr lang="en-US" sz="8793"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Lý do chọn đề tài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5400000">
            <a:off x="509406" y="3581015"/>
            <a:ext cx="9495851" cy="13737216"/>
          </a:xfrm>
          <a:custGeom>
            <a:avLst/>
            <a:gdLst/>
            <a:ahLst/>
            <a:cxnLst/>
            <a:rect l="l" t="t" r="r" b="b"/>
            <a:pathLst>
              <a:path w="9495851" h="13737216">
                <a:moveTo>
                  <a:pt x="0" y="0"/>
                </a:moveTo>
                <a:lnTo>
                  <a:pt x="9495851" y="0"/>
                </a:lnTo>
                <a:lnTo>
                  <a:pt x="9495851" y="13737216"/>
                </a:lnTo>
                <a:lnTo>
                  <a:pt x="0" y="13737216"/>
                </a:lnTo>
                <a:lnTo>
                  <a:pt x="0" y="0"/>
                </a:lnTo>
                <a:close/>
              </a:path>
            </a:pathLst>
          </a:custGeom>
          <a:blipFill>
            <a:blip r:embed="rId2"/>
            <a:stretch>
              <a:fillRect/>
            </a:stretch>
          </a:blipFill>
          <a:ln cap="sq">
            <a:noFill/>
            <a:prstDash val="solid"/>
            <a:miter/>
          </a:ln>
        </p:spPr>
        <p:txBody>
          <a:bodyPr/>
          <a:lstStyle/>
          <a:p>
            <a:endParaRPr lang="vi-VN"/>
          </a:p>
        </p:txBody>
      </p:sp>
      <p:grpSp>
        <p:nvGrpSpPr>
          <p:cNvPr id="3" name="Group 3"/>
          <p:cNvGrpSpPr/>
          <p:nvPr/>
        </p:nvGrpSpPr>
        <p:grpSpPr>
          <a:xfrm>
            <a:off x="1028700" y="4218294"/>
            <a:ext cx="4802016" cy="4479196"/>
            <a:chOff x="0" y="0"/>
            <a:chExt cx="1267130" cy="1181946"/>
          </a:xfrm>
        </p:grpSpPr>
        <p:sp>
          <p:nvSpPr>
            <p:cNvPr id="4" name="Freeform 4"/>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5" name="TextBox 5"/>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2457284" y="2085444"/>
            <a:ext cx="4802016" cy="4479196"/>
            <a:chOff x="0" y="0"/>
            <a:chExt cx="1267130" cy="1181946"/>
          </a:xfrm>
        </p:grpSpPr>
        <p:sp>
          <p:nvSpPr>
            <p:cNvPr id="7" name="Freeform 7"/>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8" name="TextBox 8"/>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6742992" y="3151869"/>
            <a:ext cx="4802016" cy="4479196"/>
            <a:chOff x="0" y="0"/>
            <a:chExt cx="1267130" cy="1181946"/>
          </a:xfrm>
        </p:grpSpPr>
        <p:sp>
          <p:nvSpPr>
            <p:cNvPr id="10" name="Freeform 10"/>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7156122" y="3450942"/>
            <a:ext cx="3784832" cy="447815"/>
          </a:xfrm>
          <a:prstGeom prst="rect">
            <a:avLst/>
          </a:prstGeom>
        </p:spPr>
        <p:txBody>
          <a:bodyPr lIns="0" tIns="0" rIns="0" bIns="0" rtlCol="0" anchor="t">
            <a:spAutoFit/>
          </a:bodyPr>
          <a:lstStyle/>
          <a:p>
            <a:pPr marL="0" lvl="0" indent="0" algn="l">
              <a:lnSpc>
                <a:spcPts val="3835"/>
              </a:lnSpc>
              <a:spcBef>
                <a:spcPct val="0"/>
              </a:spcBef>
            </a:pPr>
            <a:r>
              <a:rPr lang="en-US" sz="2739" b="1" spc="13">
                <a:solidFill>
                  <a:srgbClr val="181D2B"/>
                </a:solidFill>
                <a:latin typeface="Times New Roman" panose="02020603050405020304" pitchFamily="18" charset="0"/>
                <a:ea typeface="Open Sauce Bold"/>
                <a:cs typeface="Times New Roman" panose="02020603050405020304" pitchFamily="18" charset="0"/>
                <a:sym typeface="Open Sauce Bold"/>
              </a:rPr>
              <a:t>Mục tiêu 2</a:t>
            </a:r>
          </a:p>
        </p:txBody>
      </p:sp>
      <p:sp>
        <p:nvSpPr>
          <p:cNvPr id="13" name="TextBox 13"/>
          <p:cNvSpPr txBox="1"/>
          <p:nvPr/>
        </p:nvSpPr>
        <p:spPr>
          <a:xfrm>
            <a:off x="7156122" y="4029001"/>
            <a:ext cx="4011851" cy="2271006"/>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Làm chủ kỹ thuật đa luồng (Multithreading/Async): Xử lý đồng thời nhiều kết nối mà không gây treo giao diện người dùng.</a:t>
            </a:r>
          </a:p>
        </p:txBody>
      </p:sp>
      <p:sp>
        <p:nvSpPr>
          <p:cNvPr id="14" name="Freeform 14"/>
          <p:cNvSpPr/>
          <p:nvPr/>
        </p:nvSpPr>
        <p:spPr>
          <a:xfrm rot="1433494">
            <a:off x="4871905" y="1910560"/>
            <a:ext cx="1462787" cy="3007754"/>
          </a:xfrm>
          <a:custGeom>
            <a:avLst/>
            <a:gdLst/>
            <a:ahLst/>
            <a:cxnLst/>
            <a:rect l="l" t="t" r="r" b="b"/>
            <a:pathLst>
              <a:path w="1462787" h="3007754">
                <a:moveTo>
                  <a:pt x="0" y="0"/>
                </a:moveTo>
                <a:lnTo>
                  <a:pt x="1462787" y="0"/>
                </a:lnTo>
                <a:lnTo>
                  <a:pt x="1462787" y="3007754"/>
                </a:lnTo>
                <a:lnTo>
                  <a:pt x="0" y="3007754"/>
                </a:lnTo>
                <a:lnTo>
                  <a:pt x="0" y="0"/>
                </a:lnTo>
                <a:close/>
              </a:path>
            </a:pathLst>
          </a:custGeom>
          <a:blipFill>
            <a:blip r:embed="rId3"/>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5" name="TextBox 15"/>
          <p:cNvSpPr txBox="1"/>
          <p:nvPr/>
        </p:nvSpPr>
        <p:spPr>
          <a:xfrm>
            <a:off x="1028700" y="600075"/>
            <a:ext cx="10516308" cy="1767362"/>
          </a:xfrm>
          <a:prstGeom prst="rect">
            <a:avLst/>
          </a:prstGeom>
        </p:spPr>
        <p:txBody>
          <a:bodyPr lIns="0" tIns="0" rIns="0" bIns="0" rtlCol="0" anchor="t">
            <a:spAutoFit/>
          </a:bodyPr>
          <a:lstStyle/>
          <a:p>
            <a:pPr marL="0" lvl="0" indent="0" algn="l">
              <a:lnSpc>
                <a:spcPts val="12311"/>
              </a:lnSpc>
              <a:spcBef>
                <a:spcPct val="0"/>
              </a:spcBef>
            </a:pPr>
            <a:r>
              <a:rPr lang="en-US" sz="8793" b="1" u="none" strike="noStrike">
                <a:solidFill>
                  <a:srgbClr val="2B598F"/>
                </a:solidFill>
                <a:latin typeface="Agrandir Bold"/>
                <a:ea typeface="Agrandir Bold"/>
                <a:cs typeface="Agrandir Bold"/>
                <a:sym typeface="Agrandir Bold"/>
              </a:rPr>
              <a:t>Mục tiêu Đồ án</a:t>
            </a:r>
          </a:p>
        </p:txBody>
      </p:sp>
      <p:sp>
        <p:nvSpPr>
          <p:cNvPr id="16" name="Freeform 16"/>
          <p:cNvSpPr/>
          <p:nvPr/>
        </p:nvSpPr>
        <p:spPr>
          <a:xfrm rot="1433494">
            <a:off x="10750919" y="1206027"/>
            <a:ext cx="1278220" cy="2191666"/>
          </a:xfrm>
          <a:custGeom>
            <a:avLst/>
            <a:gdLst/>
            <a:ahLst/>
            <a:cxnLst/>
            <a:rect l="l" t="t" r="r" b="b"/>
            <a:pathLst>
              <a:path w="1278220" h="2191666">
                <a:moveTo>
                  <a:pt x="0" y="0"/>
                </a:moveTo>
                <a:lnTo>
                  <a:pt x="1278221" y="0"/>
                </a:lnTo>
                <a:lnTo>
                  <a:pt x="1278221" y="2191666"/>
                </a:lnTo>
                <a:lnTo>
                  <a:pt x="0" y="2191666"/>
                </a:lnTo>
                <a:lnTo>
                  <a:pt x="0" y="0"/>
                </a:lnTo>
                <a:close/>
              </a:path>
            </a:pathLst>
          </a:custGeom>
          <a:blipFill>
            <a:blip r:embed="rId4"/>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7" name="TextBox 17"/>
          <p:cNvSpPr txBox="1"/>
          <p:nvPr/>
        </p:nvSpPr>
        <p:spPr>
          <a:xfrm>
            <a:off x="1441830" y="4517367"/>
            <a:ext cx="3784832" cy="447815"/>
          </a:xfrm>
          <a:prstGeom prst="rect">
            <a:avLst/>
          </a:prstGeom>
        </p:spPr>
        <p:txBody>
          <a:bodyPr lIns="0" tIns="0" rIns="0" bIns="0" rtlCol="0" anchor="t">
            <a:spAutoFit/>
          </a:bodyPr>
          <a:lstStyle/>
          <a:p>
            <a:pPr marL="0" lvl="0" indent="0" algn="l">
              <a:lnSpc>
                <a:spcPts val="3835"/>
              </a:lnSpc>
              <a:spcBef>
                <a:spcPct val="0"/>
              </a:spcBef>
            </a:pPr>
            <a:r>
              <a:rPr lang="en-US" sz="2739" b="1" spc="13">
                <a:solidFill>
                  <a:srgbClr val="181D2B"/>
                </a:solidFill>
                <a:latin typeface="Times New Roman" panose="02020603050405020304" pitchFamily="18" charset="0"/>
                <a:ea typeface="Open Sauce Bold"/>
                <a:cs typeface="Times New Roman" panose="02020603050405020304" pitchFamily="18" charset="0"/>
                <a:sym typeface="Open Sauce Bold"/>
              </a:rPr>
              <a:t>Mục tiêu 1</a:t>
            </a:r>
          </a:p>
        </p:txBody>
      </p:sp>
      <p:sp>
        <p:nvSpPr>
          <p:cNvPr id="18" name="TextBox 18"/>
          <p:cNvSpPr txBox="1"/>
          <p:nvPr/>
        </p:nvSpPr>
        <p:spPr>
          <a:xfrm>
            <a:off x="1441830" y="5095427"/>
            <a:ext cx="4011851" cy="2271006"/>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Nắm vững nguyên lý hoạt động kiến trúc mạng TCP/IP: Hiểu rõ cách thức truyền tải dữ liệu tin cậy qua giao thức TCP.</a:t>
            </a:r>
          </a:p>
        </p:txBody>
      </p:sp>
      <p:sp>
        <p:nvSpPr>
          <p:cNvPr id="19" name="TextBox 19"/>
          <p:cNvSpPr txBox="1"/>
          <p:nvPr/>
        </p:nvSpPr>
        <p:spPr>
          <a:xfrm>
            <a:off x="12870414" y="2384517"/>
            <a:ext cx="3784832" cy="447815"/>
          </a:xfrm>
          <a:prstGeom prst="rect">
            <a:avLst/>
          </a:prstGeom>
        </p:spPr>
        <p:txBody>
          <a:bodyPr lIns="0" tIns="0" rIns="0" bIns="0" rtlCol="0" anchor="t">
            <a:spAutoFit/>
          </a:bodyPr>
          <a:lstStyle/>
          <a:p>
            <a:pPr marL="0" lvl="0" indent="0" algn="l">
              <a:lnSpc>
                <a:spcPts val="3835"/>
              </a:lnSpc>
              <a:spcBef>
                <a:spcPct val="0"/>
              </a:spcBef>
            </a:pPr>
            <a:r>
              <a:rPr lang="en-US" sz="2739" b="1" spc="13">
                <a:solidFill>
                  <a:srgbClr val="181D2B"/>
                </a:solidFill>
                <a:latin typeface="Times New Roman" panose="02020603050405020304" pitchFamily="18" charset="0"/>
                <a:ea typeface="Open Sauce Bold"/>
                <a:cs typeface="Times New Roman" panose="02020603050405020304" pitchFamily="18" charset="0"/>
                <a:sym typeface="Open Sauce Bold"/>
              </a:rPr>
              <a:t>Mục tiêu 3</a:t>
            </a:r>
          </a:p>
        </p:txBody>
      </p:sp>
      <p:sp>
        <p:nvSpPr>
          <p:cNvPr id="20" name="TextBox 20"/>
          <p:cNvSpPr txBox="1"/>
          <p:nvPr/>
        </p:nvSpPr>
        <p:spPr>
          <a:xfrm>
            <a:off x="12870414" y="2962576"/>
            <a:ext cx="4011851" cy="180934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Tích hợp quản lý cơ sở dữ liệu cục bộ an toàn: Phục vụ xác thực người dùng với SQLite nhúng nhẹ.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10800000">
            <a:off x="-2150717" y="2645110"/>
            <a:ext cx="9343257" cy="8578808"/>
          </a:xfrm>
          <a:custGeom>
            <a:avLst/>
            <a:gdLst/>
            <a:ahLst/>
            <a:cxnLst/>
            <a:rect l="l" t="t" r="r" b="b"/>
            <a:pathLst>
              <a:path w="9343257" h="8578808">
                <a:moveTo>
                  <a:pt x="0" y="0"/>
                </a:moveTo>
                <a:lnTo>
                  <a:pt x="9343257" y="0"/>
                </a:lnTo>
                <a:lnTo>
                  <a:pt x="9343257" y="8578808"/>
                </a:lnTo>
                <a:lnTo>
                  <a:pt x="0" y="8578808"/>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vi-VN"/>
          </a:p>
        </p:txBody>
      </p:sp>
      <p:grpSp>
        <p:nvGrpSpPr>
          <p:cNvPr id="3" name="Group 3"/>
          <p:cNvGrpSpPr/>
          <p:nvPr/>
        </p:nvGrpSpPr>
        <p:grpSpPr>
          <a:xfrm>
            <a:off x="5772013" y="3914475"/>
            <a:ext cx="10249037" cy="2458051"/>
            <a:chOff x="0" y="0"/>
            <a:chExt cx="2704460" cy="648617"/>
          </a:xfrm>
        </p:grpSpPr>
        <p:sp>
          <p:nvSpPr>
            <p:cNvPr id="4" name="Freeform 4"/>
            <p:cNvSpPr/>
            <p:nvPr/>
          </p:nvSpPr>
          <p:spPr>
            <a:xfrm>
              <a:off x="0" y="0"/>
              <a:ext cx="2704460" cy="648617"/>
            </a:xfrm>
            <a:custGeom>
              <a:avLst/>
              <a:gdLst/>
              <a:ahLst/>
              <a:cxnLst/>
              <a:rect l="l" t="t" r="r" b="b"/>
              <a:pathLst>
                <a:path w="2704460" h="648617">
                  <a:moveTo>
                    <a:pt x="21906" y="0"/>
                  </a:moveTo>
                  <a:lnTo>
                    <a:pt x="2682554" y="0"/>
                  </a:lnTo>
                  <a:cubicBezTo>
                    <a:pt x="2694652" y="0"/>
                    <a:pt x="2704460" y="9808"/>
                    <a:pt x="2704460" y="21906"/>
                  </a:cubicBezTo>
                  <a:lnTo>
                    <a:pt x="2704460" y="626711"/>
                  </a:lnTo>
                  <a:cubicBezTo>
                    <a:pt x="2704460" y="632521"/>
                    <a:pt x="2702152" y="638093"/>
                    <a:pt x="2698043" y="642201"/>
                  </a:cubicBezTo>
                  <a:cubicBezTo>
                    <a:pt x="2693935" y="646309"/>
                    <a:pt x="2688363" y="648617"/>
                    <a:pt x="2682554" y="648617"/>
                  </a:cubicBezTo>
                  <a:lnTo>
                    <a:pt x="21906" y="648617"/>
                  </a:lnTo>
                  <a:cubicBezTo>
                    <a:pt x="16096" y="648617"/>
                    <a:pt x="10524" y="646309"/>
                    <a:pt x="6416" y="642201"/>
                  </a:cubicBezTo>
                  <a:cubicBezTo>
                    <a:pt x="2308" y="638093"/>
                    <a:pt x="0" y="632521"/>
                    <a:pt x="0" y="626711"/>
                  </a:cubicBezTo>
                  <a:lnTo>
                    <a:pt x="0" y="21906"/>
                  </a:lnTo>
                  <a:cubicBezTo>
                    <a:pt x="0" y="16096"/>
                    <a:pt x="2308" y="10524"/>
                    <a:pt x="6416" y="6416"/>
                  </a:cubicBezTo>
                  <a:cubicBezTo>
                    <a:pt x="10524" y="2308"/>
                    <a:pt x="16096" y="0"/>
                    <a:pt x="21906"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5" name="TextBox 5"/>
            <p:cNvSpPr txBox="1"/>
            <p:nvPr/>
          </p:nvSpPr>
          <p:spPr>
            <a:xfrm>
              <a:off x="0" y="-38100"/>
              <a:ext cx="2704460" cy="686717"/>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6" name="TextBox 6"/>
          <p:cNvSpPr txBox="1"/>
          <p:nvPr/>
        </p:nvSpPr>
        <p:spPr>
          <a:xfrm>
            <a:off x="6120067" y="4140962"/>
            <a:ext cx="9710250" cy="459165"/>
          </a:xfrm>
          <a:prstGeom prst="rect">
            <a:avLst/>
          </a:prstGeom>
        </p:spPr>
        <p:txBody>
          <a:bodyPr lIns="0" tIns="0" rIns="0" bIns="0" rtlCol="0" anchor="t">
            <a:spAutoFit/>
          </a:bodyPr>
          <a:lstStyle/>
          <a:p>
            <a:pPr marL="0" lvl="0" indent="0" algn="l">
              <a:lnSpc>
                <a:spcPts val="3917"/>
              </a:lnSpc>
              <a:spcBef>
                <a:spcPct val="0"/>
              </a:spcBef>
            </a:pPr>
            <a:r>
              <a:rPr lang="en-US" sz="2798" b="1" u="none" strike="noStrike" spc="13">
                <a:solidFill>
                  <a:srgbClr val="181D2B"/>
                </a:solidFill>
                <a:latin typeface="Times New Roman" panose="02020603050405020304" pitchFamily="18" charset="0"/>
                <a:ea typeface="Open Sauce Bold"/>
                <a:cs typeface="Times New Roman" panose="02020603050405020304" pitchFamily="18" charset="0"/>
                <a:sym typeface="Open Sauce Bold"/>
              </a:rPr>
              <a:t>Ngôn ngữ &amp; Giao diện</a:t>
            </a:r>
          </a:p>
        </p:txBody>
      </p:sp>
      <p:sp>
        <p:nvSpPr>
          <p:cNvPr id="7" name="TextBox 7"/>
          <p:cNvSpPr txBox="1"/>
          <p:nvPr/>
        </p:nvSpPr>
        <p:spPr>
          <a:xfrm>
            <a:off x="6120067" y="4728546"/>
            <a:ext cx="9710250" cy="1299192"/>
          </a:xfrm>
          <a:prstGeom prst="rect">
            <a:avLst/>
          </a:prstGeom>
        </p:spPr>
        <p:txBody>
          <a:bodyPr lIns="0" tIns="0" rIns="0" bIns="0" rtlCol="0" anchor="t">
            <a:spAutoFit/>
          </a:bodyPr>
          <a:lstStyle/>
          <a:p>
            <a:pPr marL="0" lvl="0" indent="0" algn="l">
              <a:lnSpc>
                <a:spcPts val="3465"/>
              </a:lnSpc>
              <a:spcBef>
                <a:spcPct val="0"/>
              </a:spcBef>
            </a:pPr>
            <a:r>
              <a:rPr lang="en-US" sz="2475"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C# (.NET 8): Ngôn ngữ lập trình chính với hiệu suất cao và hỗ trợ đa luồng mạnh mẽ. Windows Forms (WinForms): Framework xây dựng giao diện người dùng trực quan, dễ tùy chỉnh.</a:t>
            </a:r>
          </a:p>
        </p:txBody>
      </p:sp>
      <p:grpSp>
        <p:nvGrpSpPr>
          <p:cNvPr id="8" name="Group 8"/>
          <p:cNvGrpSpPr/>
          <p:nvPr/>
        </p:nvGrpSpPr>
        <p:grpSpPr>
          <a:xfrm>
            <a:off x="7010263" y="6800249"/>
            <a:ext cx="10249037" cy="2458051"/>
            <a:chOff x="0" y="0"/>
            <a:chExt cx="2704460" cy="648617"/>
          </a:xfrm>
        </p:grpSpPr>
        <p:sp>
          <p:nvSpPr>
            <p:cNvPr id="9" name="Freeform 9"/>
            <p:cNvSpPr/>
            <p:nvPr/>
          </p:nvSpPr>
          <p:spPr>
            <a:xfrm>
              <a:off x="0" y="0"/>
              <a:ext cx="2704460" cy="648617"/>
            </a:xfrm>
            <a:custGeom>
              <a:avLst/>
              <a:gdLst/>
              <a:ahLst/>
              <a:cxnLst/>
              <a:rect l="l" t="t" r="r" b="b"/>
              <a:pathLst>
                <a:path w="2704460" h="648617">
                  <a:moveTo>
                    <a:pt x="21906" y="0"/>
                  </a:moveTo>
                  <a:lnTo>
                    <a:pt x="2682554" y="0"/>
                  </a:lnTo>
                  <a:cubicBezTo>
                    <a:pt x="2694652" y="0"/>
                    <a:pt x="2704460" y="9808"/>
                    <a:pt x="2704460" y="21906"/>
                  </a:cubicBezTo>
                  <a:lnTo>
                    <a:pt x="2704460" y="626711"/>
                  </a:lnTo>
                  <a:cubicBezTo>
                    <a:pt x="2704460" y="632521"/>
                    <a:pt x="2702152" y="638093"/>
                    <a:pt x="2698043" y="642201"/>
                  </a:cubicBezTo>
                  <a:cubicBezTo>
                    <a:pt x="2693935" y="646309"/>
                    <a:pt x="2688363" y="648617"/>
                    <a:pt x="2682554" y="648617"/>
                  </a:cubicBezTo>
                  <a:lnTo>
                    <a:pt x="21906" y="648617"/>
                  </a:lnTo>
                  <a:cubicBezTo>
                    <a:pt x="16096" y="648617"/>
                    <a:pt x="10524" y="646309"/>
                    <a:pt x="6416" y="642201"/>
                  </a:cubicBezTo>
                  <a:cubicBezTo>
                    <a:pt x="2308" y="638093"/>
                    <a:pt x="0" y="632521"/>
                    <a:pt x="0" y="626711"/>
                  </a:cubicBezTo>
                  <a:lnTo>
                    <a:pt x="0" y="21906"/>
                  </a:lnTo>
                  <a:cubicBezTo>
                    <a:pt x="0" y="16096"/>
                    <a:pt x="2308" y="10524"/>
                    <a:pt x="6416" y="6416"/>
                  </a:cubicBezTo>
                  <a:cubicBezTo>
                    <a:pt x="10524" y="2308"/>
                    <a:pt x="16096" y="0"/>
                    <a:pt x="21906"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0" name="TextBox 10"/>
            <p:cNvSpPr txBox="1"/>
            <p:nvPr/>
          </p:nvSpPr>
          <p:spPr>
            <a:xfrm>
              <a:off x="0" y="-38100"/>
              <a:ext cx="2704460" cy="686717"/>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1" name="TextBox 11"/>
          <p:cNvSpPr txBox="1"/>
          <p:nvPr/>
        </p:nvSpPr>
        <p:spPr>
          <a:xfrm>
            <a:off x="7358317" y="7026736"/>
            <a:ext cx="9710250"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Dữ liệu &amp; Định dạng</a:t>
            </a:r>
          </a:p>
        </p:txBody>
      </p:sp>
      <p:sp>
        <p:nvSpPr>
          <p:cNvPr id="12" name="TextBox 12"/>
          <p:cNvSpPr txBox="1"/>
          <p:nvPr/>
        </p:nvSpPr>
        <p:spPr>
          <a:xfrm>
            <a:off x="7358317" y="7614321"/>
            <a:ext cx="9710250" cy="1299192"/>
          </a:xfrm>
          <a:prstGeom prst="rect">
            <a:avLst/>
          </a:prstGeom>
        </p:spPr>
        <p:txBody>
          <a:bodyPr lIns="0" tIns="0" rIns="0" bIns="0" rtlCol="0" anchor="t">
            <a:spAutoFit/>
          </a:bodyPr>
          <a:lstStyle/>
          <a:p>
            <a:pPr marL="0" lvl="0" indent="0" algn="l">
              <a:lnSpc>
                <a:spcPts val="3465"/>
              </a:lnSpc>
              <a:spcBef>
                <a:spcPct val="0"/>
              </a:spcBef>
            </a:pPr>
            <a:r>
              <a:rPr lang="en-US" sz="2475"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SQLite: Cơ sở dữ liệu nhúng nhẹ, không cần cài đặt server, tiện lợi cho ứng dụng desktop. JSON: Định dạng trao đổi dữ liệu chuẩn hóa, dễ mở rộng và đọc hiểu.</a:t>
            </a:r>
          </a:p>
        </p:txBody>
      </p:sp>
      <p:sp>
        <p:nvSpPr>
          <p:cNvPr id="13" name="Freeform 13"/>
          <p:cNvSpPr/>
          <p:nvPr/>
        </p:nvSpPr>
        <p:spPr>
          <a:xfrm>
            <a:off x="1795001" y="4160735"/>
            <a:ext cx="2932247" cy="1967806"/>
          </a:xfrm>
          <a:custGeom>
            <a:avLst/>
            <a:gdLst/>
            <a:ahLst/>
            <a:cxnLst/>
            <a:rect l="l" t="t" r="r" b="b"/>
            <a:pathLst>
              <a:path w="2932247" h="1967806">
                <a:moveTo>
                  <a:pt x="0" y="0"/>
                </a:moveTo>
                <a:lnTo>
                  <a:pt x="2932247" y="0"/>
                </a:lnTo>
                <a:lnTo>
                  <a:pt x="2932247" y="1967806"/>
                </a:lnTo>
                <a:lnTo>
                  <a:pt x="0" y="1967806"/>
                </a:lnTo>
                <a:lnTo>
                  <a:pt x="0" y="0"/>
                </a:lnTo>
                <a:close/>
              </a:path>
            </a:pathLst>
          </a:custGeom>
          <a:blipFill>
            <a:blip r:embed="rId3"/>
            <a:stretch>
              <a:fillRect/>
            </a:stretch>
          </a:blipFill>
          <a:ln cap="sq">
            <a:noFill/>
            <a:prstDash val="solid"/>
            <a:miter/>
          </a:ln>
        </p:spPr>
        <p:txBody>
          <a:bodyPr/>
          <a:lstStyle/>
          <a:p>
            <a:endParaRPr lang="vi-VN">
              <a:latin typeface="Times New Roman" panose="02020603050405020304" pitchFamily="18" charset="0"/>
              <a:cs typeface="Times New Roman" panose="02020603050405020304" pitchFamily="18" charset="0"/>
            </a:endParaRPr>
          </a:p>
        </p:txBody>
      </p:sp>
      <p:sp>
        <p:nvSpPr>
          <p:cNvPr id="14" name="Freeform 14"/>
          <p:cNvSpPr/>
          <p:nvPr/>
        </p:nvSpPr>
        <p:spPr>
          <a:xfrm>
            <a:off x="4127764" y="6998995"/>
            <a:ext cx="1932037" cy="2165046"/>
          </a:xfrm>
          <a:custGeom>
            <a:avLst/>
            <a:gdLst/>
            <a:ahLst/>
            <a:cxnLst/>
            <a:rect l="l" t="t" r="r" b="b"/>
            <a:pathLst>
              <a:path w="1932037" h="2165046">
                <a:moveTo>
                  <a:pt x="0" y="0"/>
                </a:moveTo>
                <a:lnTo>
                  <a:pt x="1932037" y="0"/>
                </a:lnTo>
                <a:lnTo>
                  <a:pt x="1932037" y="2165047"/>
                </a:lnTo>
                <a:lnTo>
                  <a:pt x="0" y="2165047"/>
                </a:lnTo>
                <a:lnTo>
                  <a:pt x="0" y="0"/>
                </a:lnTo>
                <a:close/>
              </a:path>
            </a:pathLst>
          </a:custGeom>
          <a:blipFill>
            <a:blip r:embed="rId4"/>
            <a:stretch>
              <a:fillRect/>
            </a:stretch>
          </a:blipFill>
          <a:ln cap="sq">
            <a:noFill/>
            <a:prstDash val="solid"/>
            <a:miter/>
          </a:ln>
        </p:spPr>
        <p:txBody>
          <a:bodyPr/>
          <a:lstStyle/>
          <a:p>
            <a:endParaRPr lang="vi-VN">
              <a:latin typeface="Times New Roman" panose="02020603050405020304" pitchFamily="18" charset="0"/>
              <a:cs typeface="Times New Roman" panose="02020603050405020304" pitchFamily="18" charset="0"/>
            </a:endParaRPr>
          </a:p>
        </p:txBody>
      </p:sp>
      <p:sp>
        <p:nvSpPr>
          <p:cNvPr id="15" name="TextBox 15"/>
          <p:cNvSpPr txBox="1"/>
          <p:nvPr/>
        </p:nvSpPr>
        <p:spPr>
          <a:xfrm>
            <a:off x="1028700" y="1623396"/>
            <a:ext cx="8913197" cy="1211998"/>
          </a:xfrm>
          <a:prstGeom prst="rect">
            <a:avLst/>
          </a:prstGeom>
        </p:spPr>
        <p:txBody>
          <a:bodyPr lIns="0" tIns="0" rIns="0" bIns="0" rtlCol="0" anchor="t">
            <a:spAutoFit/>
          </a:bodyPr>
          <a:lstStyle/>
          <a:p>
            <a:pPr marL="0" lvl="0" indent="0" algn="l">
              <a:lnSpc>
                <a:spcPts val="10312"/>
              </a:lnSpc>
              <a:spcBef>
                <a:spcPct val="0"/>
              </a:spcBef>
            </a:pPr>
            <a:r>
              <a:rPr lang="en-US" sz="7365"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Công nghệ sử dụng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5400000">
            <a:off x="-1713848" y="3130451"/>
            <a:ext cx="12082561" cy="12395378"/>
          </a:xfrm>
          <a:custGeom>
            <a:avLst/>
            <a:gdLst/>
            <a:ahLst/>
            <a:cxnLst/>
            <a:rect l="l" t="t" r="r" b="b"/>
            <a:pathLst>
              <a:path w="12082561" h="12395378">
                <a:moveTo>
                  <a:pt x="0" y="0"/>
                </a:moveTo>
                <a:lnTo>
                  <a:pt x="12082561" y="0"/>
                </a:lnTo>
                <a:lnTo>
                  <a:pt x="12082561" y="12395378"/>
                </a:lnTo>
                <a:lnTo>
                  <a:pt x="0" y="12395378"/>
                </a:lnTo>
                <a:lnTo>
                  <a:pt x="0" y="0"/>
                </a:lnTo>
                <a:close/>
              </a:path>
            </a:pathLst>
          </a:custGeom>
          <a:blipFill>
            <a:blip r:embed="rId2"/>
            <a:stretch>
              <a:fillRect/>
            </a:stretch>
          </a:blipFill>
          <a:ln cap="sq">
            <a:noFill/>
            <a:prstDash val="solid"/>
            <a:miter/>
          </a:ln>
        </p:spPr>
        <p:txBody>
          <a:bodyPr/>
          <a:lstStyle/>
          <a:p>
            <a:endParaRPr lang="vi-VN"/>
          </a:p>
        </p:txBody>
      </p:sp>
      <p:grpSp>
        <p:nvGrpSpPr>
          <p:cNvPr id="3" name="Group 3"/>
          <p:cNvGrpSpPr/>
          <p:nvPr/>
        </p:nvGrpSpPr>
        <p:grpSpPr>
          <a:xfrm>
            <a:off x="1028700" y="4218294"/>
            <a:ext cx="4802016" cy="4479196"/>
            <a:chOff x="0" y="0"/>
            <a:chExt cx="1267130" cy="1181946"/>
          </a:xfrm>
        </p:grpSpPr>
        <p:sp>
          <p:nvSpPr>
            <p:cNvPr id="4" name="Freeform 4"/>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5" name="TextBox 5"/>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2457284" y="2085444"/>
            <a:ext cx="4802016" cy="4479196"/>
            <a:chOff x="0" y="0"/>
            <a:chExt cx="1267130" cy="1181946"/>
          </a:xfrm>
        </p:grpSpPr>
        <p:sp>
          <p:nvSpPr>
            <p:cNvPr id="7" name="Freeform 7"/>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8" name="TextBox 8"/>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6742992" y="3151869"/>
            <a:ext cx="4802016" cy="4479196"/>
            <a:chOff x="0" y="0"/>
            <a:chExt cx="1267130" cy="1181946"/>
          </a:xfrm>
        </p:grpSpPr>
        <p:sp>
          <p:nvSpPr>
            <p:cNvPr id="10" name="Freeform 10"/>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7156122" y="3441417"/>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SharedLibrary</a:t>
            </a:r>
          </a:p>
        </p:txBody>
      </p:sp>
      <p:sp>
        <p:nvSpPr>
          <p:cNvPr id="13" name="TextBox 13"/>
          <p:cNvSpPr txBox="1"/>
          <p:nvPr/>
        </p:nvSpPr>
        <p:spPr>
          <a:xfrm>
            <a:off x="7156122" y="4029001"/>
            <a:ext cx="4011851" cy="273267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Chứa lớp MessagePacket dùng chung. Đồng bộ cấu trúc dữ liệu giữa Server và Client. Định nghĩa các loại tin nhắn: Login, Chat, Broadcast, Private.</a:t>
            </a:r>
          </a:p>
        </p:txBody>
      </p:sp>
      <p:sp>
        <p:nvSpPr>
          <p:cNvPr id="14" name="Freeform 14"/>
          <p:cNvSpPr/>
          <p:nvPr/>
        </p:nvSpPr>
        <p:spPr>
          <a:xfrm rot="1433494">
            <a:off x="4978974" y="1378146"/>
            <a:ext cx="1657618" cy="3160713"/>
          </a:xfrm>
          <a:custGeom>
            <a:avLst/>
            <a:gdLst/>
            <a:ahLst/>
            <a:cxnLst/>
            <a:rect l="l" t="t" r="r" b="b"/>
            <a:pathLst>
              <a:path w="1657618" h="3160713">
                <a:moveTo>
                  <a:pt x="0" y="0"/>
                </a:moveTo>
                <a:lnTo>
                  <a:pt x="1657618" y="0"/>
                </a:lnTo>
                <a:lnTo>
                  <a:pt x="1657618" y="3160713"/>
                </a:lnTo>
                <a:lnTo>
                  <a:pt x="0" y="3160713"/>
                </a:lnTo>
                <a:lnTo>
                  <a:pt x="0" y="0"/>
                </a:lnTo>
                <a:close/>
              </a:path>
            </a:pathLst>
          </a:custGeom>
          <a:blipFill>
            <a:blip r:embed="rId3"/>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5" name="TextBox 15"/>
          <p:cNvSpPr txBox="1"/>
          <p:nvPr/>
        </p:nvSpPr>
        <p:spPr>
          <a:xfrm>
            <a:off x="1028700" y="600075"/>
            <a:ext cx="10516308" cy="1447319"/>
          </a:xfrm>
          <a:prstGeom prst="rect">
            <a:avLst/>
          </a:prstGeom>
        </p:spPr>
        <p:txBody>
          <a:bodyPr lIns="0" tIns="0" rIns="0" bIns="0" rtlCol="0" anchor="t">
            <a:spAutoFit/>
          </a:bodyPr>
          <a:lstStyle/>
          <a:p>
            <a:pPr marL="0" lvl="0" indent="0" algn="l">
              <a:lnSpc>
                <a:spcPts val="12311"/>
              </a:lnSpc>
              <a:spcBef>
                <a:spcPct val="0"/>
              </a:spcBef>
            </a:pPr>
            <a:r>
              <a:rPr lang="en-US" sz="8793"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Kiến trúc hệ thống</a:t>
            </a:r>
          </a:p>
        </p:txBody>
      </p:sp>
      <p:sp>
        <p:nvSpPr>
          <p:cNvPr id="16" name="Freeform 16"/>
          <p:cNvSpPr/>
          <p:nvPr/>
        </p:nvSpPr>
        <p:spPr>
          <a:xfrm rot="1433494">
            <a:off x="10520807" y="584321"/>
            <a:ext cx="1976692" cy="2817983"/>
          </a:xfrm>
          <a:custGeom>
            <a:avLst/>
            <a:gdLst/>
            <a:ahLst/>
            <a:cxnLst/>
            <a:rect l="l" t="t" r="r" b="b"/>
            <a:pathLst>
              <a:path w="1976692" h="2817983">
                <a:moveTo>
                  <a:pt x="0" y="0"/>
                </a:moveTo>
                <a:lnTo>
                  <a:pt x="1976692" y="0"/>
                </a:lnTo>
                <a:lnTo>
                  <a:pt x="1976692" y="2817984"/>
                </a:lnTo>
                <a:lnTo>
                  <a:pt x="0" y="2817984"/>
                </a:lnTo>
                <a:lnTo>
                  <a:pt x="0" y="0"/>
                </a:lnTo>
                <a:close/>
              </a:path>
            </a:pathLst>
          </a:custGeom>
          <a:blipFill>
            <a:blip r:embed="rId4"/>
            <a:stretch>
              <a:fillRect/>
            </a:stretch>
          </a:blipFill>
        </p:spPr>
        <p:txBody>
          <a:bodyPr/>
          <a:lstStyle/>
          <a:p>
            <a:endParaRPr lang="vi-VN"/>
          </a:p>
        </p:txBody>
      </p:sp>
      <p:sp>
        <p:nvSpPr>
          <p:cNvPr id="17" name="TextBox 17"/>
          <p:cNvSpPr txBox="1"/>
          <p:nvPr/>
        </p:nvSpPr>
        <p:spPr>
          <a:xfrm>
            <a:off x="1441830" y="4507842"/>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ChatServer</a:t>
            </a:r>
          </a:p>
        </p:txBody>
      </p:sp>
      <p:sp>
        <p:nvSpPr>
          <p:cNvPr id="18" name="TextBox 18"/>
          <p:cNvSpPr txBox="1"/>
          <p:nvPr/>
        </p:nvSpPr>
        <p:spPr>
          <a:xfrm>
            <a:off x="1441830" y="5095427"/>
            <a:ext cx="4011851" cy="2271006"/>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Lắng nghe kết nối TCP từ các Client. Xử lý cơ sở dữ liệu SQLite cho xác thực. Điều phối và phân phát tin nhắn đến đúng người nhận.</a:t>
            </a:r>
          </a:p>
        </p:txBody>
      </p:sp>
      <p:sp>
        <p:nvSpPr>
          <p:cNvPr id="19" name="TextBox 19"/>
          <p:cNvSpPr txBox="1"/>
          <p:nvPr/>
        </p:nvSpPr>
        <p:spPr>
          <a:xfrm>
            <a:off x="12870414" y="2374992"/>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ChatClient</a:t>
            </a:r>
          </a:p>
        </p:txBody>
      </p:sp>
      <p:sp>
        <p:nvSpPr>
          <p:cNvPr id="20" name="TextBox 20"/>
          <p:cNvSpPr txBox="1"/>
          <p:nvPr/>
        </p:nvSpPr>
        <p:spPr>
          <a:xfrm>
            <a:off x="12870414" y="2962576"/>
            <a:ext cx="4011851" cy="272483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Giao diện người dùng Windows Forms. Hiển thị Custom UI với bong bóng chat. Kết nối đến Server qua TCP Socket và xử lý bất đồng bộ.</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5400000">
            <a:off x="470615" y="3124077"/>
            <a:ext cx="7651050" cy="12268447"/>
          </a:xfrm>
          <a:custGeom>
            <a:avLst/>
            <a:gdLst/>
            <a:ahLst/>
            <a:cxnLst/>
            <a:rect l="l" t="t" r="r" b="b"/>
            <a:pathLst>
              <a:path w="7651050" h="12268447">
                <a:moveTo>
                  <a:pt x="0" y="0"/>
                </a:moveTo>
                <a:lnTo>
                  <a:pt x="7651049" y="0"/>
                </a:lnTo>
                <a:lnTo>
                  <a:pt x="7651049" y="12268446"/>
                </a:lnTo>
                <a:lnTo>
                  <a:pt x="0" y="1226844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vi-VN"/>
          </a:p>
        </p:txBody>
      </p:sp>
      <p:grpSp>
        <p:nvGrpSpPr>
          <p:cNvPr id="3" name="Group 3"/>
          <p:cNvGrpSpPr/>
          <p:nvPr/>
        </p:nvGrpSpPr>
        <p:grpSpPr>
          <a:xfrm>
            <a:off x="1028700" y="4218294"/>
            <a:ext cx="4802016" cy="4479196"/>
            <a:chOff x="0" y="0"/>
            <a:chExt cx="1267130" cy="1181946"/>
          </a:xfrm>
        </p:grpSpPr>
        <p:sp>
          <p:nvSpPr>
            <p:cNvPr id="4" name="Freeform 4"/>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5" name="TextBox 5"/>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2457284" y="2085444"/>
            <a:ext cx="4802016" cy="4479196"/>
            <a:chOff x="0" y="0"/>
            <a:chExt cx="1267130" cy="1181946"/>
          </a:xfrm>
        </p:grpSpPr>
        <p:sp>
          <p:nvSpPr>
            <p:cNvPr id="7" name="Freeform 7"/>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8" name="TextBox 8"/>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6742992" y="3151869"/>
            <a:ext cx="4802016" cy="4479196"/>
            <a:chOff x="0" y="0"/>
            <a:chExt cx="1267130" cy="1181946"/>
          </a:xfrm>
        </p:grpSpPr>
        <p:sp>
          <p:nvSpPr>
            <p:cNvPr id="10" name="Freeform 10"/>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7156122" y="3441417"/>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Bước 2</a:t>
            </a:r>
          </a:p>
        </p:txBody>
      </p:sp>
      <p:sp>
        <p:nvSpPr>
          <p:cNvPr id="13" name="TextBox 13"/>
          <p:cNvSpPr txBox="1"/>
          <p:nvPr/>
        </p:nvSpPr>
        <p:spPr>
          <a:xfrm>
            <a:off x="7156122" y="4029001"/>
            <a:ext cx="4011851" cy="273267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Chuyển Byte → NetworkStream</a:t>
            </a:r>
          </a:p>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Dữ liệu JSON được encode thành mảng Byte và truyền qua TCP NetworkStream đến Server.</a:t>
            </a:r>
          </a:p>
        </p:txBody>
      </p:sp>
      <p:sp>
        <p:nvSpPr>
          <p:cNvPr id="14" name="Freeform 14"/>
          <p:cNvSpPr/>
          <p:nvPr/>
        </p:nvSpPr>
        <p:spPr>
          <a:xfrm rot="1433494">
            <a:off x="4751301" y="1908764"/>
            <a:ext cx="1728923" cy="3006823"/>
          </a:xfrm>
          <a:custGeom>
            <a:avLst/>
            <a:gdLst/>
            <a:ahLst/>
            <a:cxnLst/>
            <a:rect l="l" t="t" r="r" b="b"/>
            <a:pathLst>
              <a:path w="1728923" h="3006823">
                <a:moveTo>
                  <a:pt x="0" y="0"/>
                </a:moveTo>
                <a:lnTo>
                  <a:pt x="1728923" y="0"/>
                </a:lnTo>
                <a:lnTo>
                  <a:pt x="1728923" y="3006823"/>
                </a:lnTo>
                <a:lnTo>
                  <a:pt x="0" y="3006823"/>
                </a:lnTo>
                <a:lnTo>
                  <a:pt x="0" y="0"/>
                </a:lnTo>
                <a:close/>
              </a:path>
            </a:pathLst>
          </a:custGeom>
          <a:blipFill>
            <a:blip r:embed="rId3"/>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5" name="TextBox 15"/>
          <p:cNvSpPr txBox="1"/>
          <p:nvPr/>
        </p:nvSpPr>
        <p:spPr>
          <a:xfrm>
            <a:off x="1028700" y="676275"/>
            <a:ext cx="10516308" cy="1211998"/>
          </a:xfrm>
          <a:prstGeom prst="rect">
            <a:avLst/>
          </a:prstGeom>
        </p:spPr>
        <p:txBody>
          <a:bodyPr lIns="0" tIns="0" rIns="0" bIns="0" rtlCol="0" anchor="t">
            <a:spAutoFit/>
          </a:bodyPr>
          <a:lstStyle/>
          <a:p>
            <a:pPr marL="0" lvl="0" indent="0" algn="l">
              <a:lnSpc>
                <a:spcPts val="10312"/>
              </a:lnSpc>
              <a:spcBef>
                <a:spcPct val="0"/>
              </a:spcBef>
            </a:pPr>
            <a:r>
              <a:rPr lang="en-US" sz="7365"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Cơ chế truyền tải dữ liệu</a:t>
            </a:r>
          </a:p>
        </p:txBody>
      </p:sp>
      <p:sp>
        <p:nvSpPr>
          <p:cNvPr id="16" name="Freeform 16"/>
          <p:cNvSpPr/>
          <p:nvPr/>
        </p:nvSpPr>
        <p:spPr>
          <a:xfrm rot="1433494">
            <a:off x="10513440" y="1680112"/>
            <a:ext cx="1331433" cy="1483491"/>
          </a:xfrm>
          <a:custGeom>
            <a:avLst/>
            <a:gdLst/>
            <a:ahLst/>
            <a:cxnLst/>
            <a:rect l="l" t="t" r="r" b="b"/>
            <a:pathLst>
              <a:path w="1331433" h="1483491">
                <a:moveTo>
                  <a:pt x="0" y="0"/>
                </a:moveTo>
                <a:lnTo>
                  <a:pt x="1331433" y="0"/>
                </a:lnTo>
                <a:lnTo>
                  <a:pt x="1331433" y="1483491"/>
                </a:lnTo>
                <a:lnTo>
                  <a:pt x="0" y="1483491"/>
                </a:lnTo>
                <a:lnTo>
                  <a:pt x="0" y="0"/>
                </a:lnTo>
                <a:close/>
              </a:path>
            </a:pathLst>
          </a:custGeom>
          <a:blipFill>
            <a:blip r:embed="rId4"/>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7" name="TextBox 17"/>
          <p:cNvSpPr txBox="1"/>
          <p:nvPr/>
        </p:nvSpPr>
        <p:spPr>
          <a:xfrm>
            <a:off x="1441830" y="4507842"/>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Bước 1</a:t>
            </a:r>
          </a:p>
        </p:txBody>
      </p:sp>
      <p:sp>
        <p:nvSpPr>
          <p:cNvPr id="18" name="TextBox 18"/>
          <p:cNvSpPr txBox="1"/>
          <p:nvPr/>
        </p:nvSpPr>
        <p:spPr>
          <a:xfrm>
            <a:off x="1441830" y="5095427"/>
            <a:ext cx="4011851" cy="273267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Nhập Text → Đóng gói JSON</a:t>
            </a:r>
          </a:p>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Người dùng nhập tin nhắn, hệ thống serialize thành đối tượng MessagePacket dạng JSON chuẩn hóa.</a:t>
            </a:r>
          </a:p>
        </p:txBody>
      </p:sp>
      <p:sp>
        <p:nvSpPr>
          <p:cNvPr id="19" name="TextBox 19"/>
          <p:cNvSpPr txBox="1"/>
          <p:nvPr/>
        </p:nvSpPr>
        <p:spPr>
          <a:xfrm>
            <a:off x="12870414" y="2374992"/>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Bước 3</a:t>
            </a:r>
          </a:p>
        </p:txBody>
      </p:sp>
      <p:sp>
        <p:nvSpPr>
          <p:cNvPr id="20" name="TextBox 20"/>
          <p:cNvSpPr txBox="1"/>
          <p:nvPr/>
        </p:nvSpPr>
        <p:spPr>
          <a:xfrm>
            <a:off x="12870414" y="2962576"/>
            <a:ext cx="4011851" cy="2271006"/>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Giải mã JSON → Hiển thị UI</a:t>
            </a:r>
          </a:p>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Server/Client nhận Byte, deserialize JSON và hiển thị tin nhắn lên giao diện người dùng.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grpSp>
        <p:nvGrpSpPr>
          <p:cNvPr id="2" name="Group 2"/>
          <p:cNvGrpSpPr/>
          <p:nvPr/>
        </p:nvGrpSpPr>
        <p:grpSpPr>
          <a:xfrm>
            <a:off x="693875" y="2399281"/>
            <a:ext cx="8450125" cy="2744219"/>
            <a:chOff x="0" y="0"/>
            <a:chExt cx="1877108" cy="609600"/>
          </a:xfrm>
        </p:grpSpPr>
        <p:sp>
          <p:nvSpPr>
            <p:cNvPr id="3" name="Freeform 3"/>
            <p:cNvSpPr/>
            <p:nvPr/>
          </p:nvSpPr>
          <p:spPr>
            <a:xfrm>
              <a:off x="0" y="0"/>
              <a:ext cx="1877108" cy="609600"/>
            </a:xfrm>
            <a:custGeom>
              <a:avLst/>
              <a:gdLst/>
              <a:ahLst/>
              <a:cxnLst/>
              <a:rect l="l" t="t" r="r" b="b"/>
              <a:pathLst>
                <a:path w="1877108" h="609600">
                  <a:moveTo>
                    <a:pt x="1673908" y="0"/>
                  </a:moveTo>
                  <a:lnTo>
                    <a:pt x="0" y="0"/>
                  </a:lnTo>
                  <a:lnTo>
                    <a:pt x="203200" y="609600"/>
                  </a:lnTo>
                  <a:lnTo>
                    <a:pt x="1877108" y="609600"/>
                  </a:lnTo>
                  <a:lnTo>
                    <a:pt x="1673908" y="0"/>
                  </a:lnTo>
                  <a:close/>
                </a:path>
              </a:pathLst>
            </a:custGeom>
            <a:solidFill>
              <a:srgbClr val="DFF3FF"/>
            </a:solidFill>
          </p:spPr>
          <p:txBody>
            <a:bodyPr/>
            <a:lstStyle/>
            <a:p>
              <a:endParaRPr lang="vi-VN">
                <a:latin typeface="Times New Roman" panose="02020603050405020304" pitchFamily="18" charset="0"/>
                <a:cs typeface="Times New Roman" panose="02020603050405020304" pitchFamily="18" charset="0"/>
              </a:endParaRPr>
            </a:p>
          </p:txBody>
        </p:sp>
        <p:sp>
          <p:nvSpPr>
            <p:cNvPr id="4" name="TextBox 4"/>
            <p:cNvSpPr txBox="1"/>
            <p:nvPr/>
          </p:nvSpPr>
          <p:spPr>
            <a:xfrm>
              <a:off x="101600" y="-38100"/>
              <a:ext cx="1673908" cy="647700"/>
            </a:xfrm>
            <a:prstGeom prst="rect">
              <a:avLst/>
            </a:prstGeom>
          </p:spPr>
          <p:txBody>
            <a:bodyPr lIns="50800" tIns="50800" rIns="50800" bIns="50800" rtlCol="0" anchor="ctr"/>
            <a:lstStyle/>
            <a:p>
              <a:pPr algn="ctr">
                <a:lnSpc>
                  <a:spcPts val="3135"/>
                </a:lnSpc>
              </a:pPr>
              <a:endParaRPr>
                <a:latin typeface="Times New Roman" panose="02020603050405020304" pitchFamily="18" charset="0"/>
                <a:cs typeface="Times New Roman" panose="02020603050405020304" pitchFamily="18" charset="0"/>
              </a:endParaRPr>
            </a:p>
          </p:txBody>
        </p:sp>
      </p:grpSp>
      <p:sp>
        <p:nvSpPr>
          <p:cNvPr id="5" name="TextBox 5"/>
          <p:cNvSpPr txBox="1"/>
          <p:nvPr/>
        </p:nvSpPr>
        <p:spPr>
          <a:xfrm>
            <a:off x="5743087" y="1100258"/>
            <a:ext cx="6801827" cy="823559"/>
          </a:xfrm>
          <a:prstGeom prst="rect">
            <a:avLst/>
          </a:prstGeom>
        </p:spPr>
        <p:txBody>
          <a:bodyPr lIns="0" tIns="0" rIns="0" bIns="0" rtlCol="0" anchor="t">
            <a:spAutoFit/>
          </a:bodyPr>
          <a:lstStyle/>
          <a:p>
            <a:pPr marL="0" lvl="0" indent="0" algn="r">
              <a:lnSpc>
                <a:spcPts val="7000"/>
              </a:lnSpc>
            </a:pPr>
            <a:r>
              <a:rPr lang="en-US" sz="5000" b="1">
                <a:solidFill>
                  <a:srgbClr val="2B598F"/>
                </a:solidFill>
                <a:latin typeface="Times New Roman" panose="02020603050405020304" pitchFamily="18" charset="0"/>
                <a:ea typeface="Agrandir Bold"/>
                <a:cs typeface="Times New Roman" panose="02020603050405020304" pitchFamily="18" charset="0"/>
                <a:sym typeface="Agrandir Bold"/>
              </a:rPr>
              <a:t>Các tính năng cốt lõi</a:t>
            </a:r>
          </a:p>
        </p:txBody>
      </p:sp>
      <p:sp>
        <p:nvSpPr>
          <p:cNvPr id="6" name="TextBox 6"/>
          <p:cNvSpPr txBox="1"/>
          <p:nvPr/>
        </p:nvSpPr>
        <p:spPr>
          <a:xfrm>
            <a:off x="882381" y="2529082"/>
            <a:ext cx="7106411" cy="371729"/>
          </a:xfrm>
          <a:prstGeom prst="rect">
            <a:avLst/>
          </a:prstGeom>
        </p:spPr>
        <p:txBody>
          <a:bodyPr lIns="0" tIns="0" rIns="0" bIns="0" rtlCol="0" anchor="t">
            <a:spAutoFit/>
          </a:bodyPr>
          <a:lstStyle/>
          <a:p>
            <a:pPr algn="ctr">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Đăng nhập/Đăng ký an toàn</a:t>
            </a:r>
          </a:p>
        </p:txBody>
      </p:sp>
      <p:sp>
        <p:nvSpPr>
          <p:cNvPr id="7" name="TextBox 7"/>
          <p:cNvSpPr txBox="1"/>
          <p:nvPr/>
        </p:nvSpPr>
        <p:spPr>
          <a:xfrm>
            <a:off x="1638804" y="3267441"/>
            <a:ext cx="6560266" cy="1160574"/>
          </a:xfrm>
          <a:prstGeom prst="rect">
            <a:avLst/>
          </a:prstGeom>
        </p:spPr>
        <p:txBody>
          <a:bodyPr lIns="0" tIns="0" rIns="0" bIns="0" rtlCol="0" anchor="t">
            <a:spAutoFit/>
          </a:bodyPr>
          <a:lstStyle/>
          <a:p>
            <a:pPr algn="just">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Hỗ trợ tính năng tạo tài khoản và xác thực đăng nhập với giao diện thân thiện, đồng thời bảo mật thông tin người dùng qua các cơ chế kiểm tra dữ liệu đầu vào.</a:t>
            </a:r>
          </a:p>
        </p:txBody>
      </p:sp>
      <p:grpSp>
        <p:nvGrpSpPr>
          <p:cNvPr id="8" name="Group 8"/>
          <p:cNvGrpSpPr/>
          <p:nvPr/>
        </p:nvGrpSpPr>
        <p:grpSpPr>
          <a:xfrm>
            <a:off x="9144000" y="2399281"/>
            <a:ext cx="8450125" cy="2744219"/>
            <a:chOff x="0" y="0"/>
            <a:chExt cx="1877108" cy="609600"/>
          </a:xfrm>
        </p:grpSpPr>
        <p:sp>
          <p:nvSpPr>
            <p:cNvPr id="9" name="Freeform 9"/>
            <p:cNvSpPr/>
            <p:nvPr/>
          </p:nvSpPr>
          <p:spPr>
            <a:xfrm>
              <a:off x="0" y="0"/>
              <a:ext cx="1877108" cy="609600"/>
            </a:xfrm>
            <a:custGeom>
              <a:avLst/>
              <a:gdLst/>
              <a:ahLst/>
              <a:cxnLst/>
              <a:rect l="l" t="t" r="r" b="b"/>
              <a:pathLst>
                <a:path w="1877108" h="609600">
                  <a:moveTo>
                    <a:pt x="1673908" y="0"/>
                  </a:moveTo>
                  <a:lnTo>
                    <a:pt x="0" y="0"/>
                  </a:lnTo>
                  <a:lnTo>
                    <a:pt x="203200" y="609600"/>
                  </a:lnTo>
                  <a:lnTo>
                    <a:pt x="1877108" y="609600"/>
                  </a:lnTo>
                  <a:lnTo>
                    <a:pt x="1673908" y="0"/>
                  </a:lnTo>
                  <a:close/>
                </a:path>
              </a:pathLst>
            </a:custGeom>
            <a:solidFill>
              <a:srgbClr val="DFF3FF"/>
            </a:solidFill>
          </p:spPr>
          <p:txBody>
            <a:bodyPr/>
            <a:lstStyle/>
            <a:p>
              <a:endParaRPr lang="vi-VN">
                <a:latin typeface="Times New Roman" panose="02020603050405020304" pitchFamily="18" charset="0"/>
                <a:cs typeface="Times New Roman" panose="02020603050405020304" pitchFamily="18" charset="0"/>
              </a:endParaRPr>
            </a:p>
          </p:txBody>
        </p:sp>
        <p:sp>
          <p:nvSpPr>
            <p:cNvPr id="10" name="TextBox 10"/>
            <p:cNvSpPr txBox="1"/>
            <p:nvPr/>
          </p:nvSpPr>
          <p:spPr>
            <a:xfrm>
              <a:off x="101600" y="-38100"/>
              <a:ext cx="1673908" cy="647700"/>
            </a:xfrm>
            <a:prstGeom prst="rect">
              <a:avLst/>
            </a:prstGeom>
          </p:spPr>
          <p:txBody>
            <a:bodyPr lIns="50800" tIns="50800" rIns="50800" bIns="50800" rtlCol="0" anchor="ctr"/>
            <a:lstStyle/>
            <a:p>
              <a:pPr algn="ctr">
                <a:lnSpc>
                  <a:spcPts val="3135"/>
                </a:lnSpc>
              </a:pPr>
              <a:endParaRPr>
                <a:latin typeface="Times New Roman" panose="02020603050405020304" pitchFamily="18" charset="0"/>
                <a:cs typeface="Times New Roman" panose="02020603050405020304" pitchFamily="18" charset="0"/>
              </a:endParaRPr>
            </a:p>
          </p:txBody>
        </p:sp>
      </p:grpSp>
      <p:grpSp>
        <p:nvGrpSpPr>
          <p:cNvPr id="11" name="Group 11"/>
          <p:cNvGrpSpPr/>
          <p:nvPr/>
        </p:nvGrpSpPr>
        <p:grpSpPr>
          <a:xfrm>
            <a:off x="882381" y="6264583"/>
            <a:ext cx="8450125" cy="2744219"/>
            <a:chOff x="0" y="0"/>
            <a:chExt cx="1877108" cy="609600"/>
          </a:xfrm>
        </p:grpSpPr>
        <p:sp>
          <p:nvSpPr>
            <p:cNvPr id="12" name="Freeform 12"/>
            <p:cNvSpPr/>
            <p:nvPr/>
          </p:nvSpPr>
          <p:spPr>
            <a:xfrm>
              <a:off x="0" y="0"/>
              <a:ext cx="1877108" cy="609600"/>
            </a:xfrm>
            <a:custGeom>
              <a:avLst/>
              <a:gdLst/>
              <a:ahLst/>
              <a:cxnLst/>
              <a:rect l="l" t="t" r="r" b="b"/>
              <a:pathLst>
                <a:path w="1877108" h="609600">
                  <a:moveTo>
                    <a:pt x="1673908" y="0"/>
                  </a:moveTo>
                  <a:lnTo>
                    <a:pt x="0" y="0"/>
                  </a:lnTo>
                  <a:lnTo>
                    <a:pt x="203200" y="609600"/>
                  </a:lnTo>
                  <a:lnTo>
                    <a:pt x="1877108" y="609600"/>
                  </a:lnTo>
                  <a:lnTo>
                    <a:pt x="1673908" y="0"/>
                  </a:lnTo>
                  <a:close/>
                </a:path>
              </a:pathLst>
            </a:custGeom>
            <a:solidFill>
              <a:srgbClr val="DFF3FF"/>
            </a:solidFill>
          </p:spPr>
          <p:txBody>
            <a:bodyPr/>
            <a:lstStyle/>
            <a:p>
              <a:endParaRPr lang="vi-VN">
                <a:latin typeface="Times New Roman" panose="02020603050405020304" pitchFamily="18" charset="0"/>
                <a:cs typeface="Times New Roman" panose="02020603050405020304" pitchFamily="18" charset="0"/>
              </a:endParaRPr>
            </a:p>
          </p:txBody>
        </p:sp>
        <p:sp>
          <p:nvSpPr>
            <p:cNvPr id="13" name="TextBox 13"/>
            <p:cNvSpPr txBox="1"/>
            <p:nvPr/>
          </p:nvSpPr>
          <p:spPr>
            <a:xfrm>
              <a:off x="101600" y="-38100"/>
              <a:ext cx="1673908" cy="647700"/>
            </a:xfrm>
            <a:prstGeom prst="rect">
              <a:avLst/>
            </a:prstGeom>
          </p:spPr>
          <p:txBody>
            <a:bodyPr lIns="50800" tIns="50800" rIns="50800" bIns="50800" rtlCol="0" anchor="ctr"/>
            <a:lstStyle/>
            <a:p>
              <a:pPr algn="ctr">
                <a:lnSpc>
                  <a:spcPts val="3135"/>
                </a:lnSpc>
              </a:pPr>
              <a:endParaRPr>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9530759" y="6264583"/>
            <a:ext cx="8450125" cy="2744219"/>
            <a:chOff x="0" y="0"/>
            <a:chExt cx="1877108" cy="609600"/>
          </a:xfrm>
        </p:grpSpPr>
        <p:sp>
          <p:nvSpPr>
            <p:cNvPr id="15" name="Freeform 15"/>
            <p:cNvSpPr/>
            <p:nvPr/>
          </p:nvSpPr>
          <p:spPr>
            <a:xfrm>
              <a:off x="0" y="0"/>
              <a:ext cx="1877108" cy="609600"/>
            </a:xfrm>
            <a:custGeom>
              <a:avLst/>
              <a:gdLst/>
              <a:ahLst/>
              <a:cxnLst/>
              <a:rect l="l" t="t" r="r" b="b"/>
              <a:pathLst>
                <a:path w="1877108" h="609600">
                  <a:moveTo>
                    <a:pt x="1673908" y="0"/>
                  </a:moveTo>
                  <a:lnTo>
                    <a:pt x="0" y="0"/>
                  </a:lnTo>
                  <a:lnTo>
                    <a:pt x="203200" y="609600"/>
                  </a:lnTo>
                  <a:lnTo>
                    <a:pt x="1877108" y="609600"/>
                  </a:lnTo>
                  <a:lnTo>
                    <a:pt x="1673908" y="0"/>
                  </a:lnTo>
                  <a:close/>
                </a:path>
              </a:pathLst>
            </a:custGeom>
            <a:solidFill>
              <a:srgbClr val="DFF3FF"/>
            </a:solidFill>
          </p:spPr>
          <p:txBody>
            <a:bodyPr/>
            <a:lstStyle/>
            <a:p>
              <a:endParaRPr lang="vi-VN">
                <a:latin typeface="Times New Roman" panose="02020603050405020304" pitchFamily="18" charset="0"/>
                <a:cs typeface="Times New Roman" panose="02020603050405020304" pitchFamily="18" charset="0"/>
              </a:endParaRPr>
            </a:p>
          </p:txBody>
        </p:sp>
        <p:sp>
          <p:nvSpPr>
            <p:cNvPr id="16" name="TextBox 16"/>
            <p:cNvSpPr txBox="1"/>
            <p:nvPr/>
          </p:nvSpPr>
          <p:spPr>
            <a:xfrm>
              <a:off x="101600" y="-38100"/>
              <a:ext cx="1673908" cy="647700"/>
            </a:xfrm>
            <a:prstGeom prst="rect">
              <a:avLst/>
            </a:prstGeom>
          </p:spPr>
          <p:txBody>
            <a:bodyPr lIns="50800" tIns="50800" rIns="50800" bIns="50800" rtlCol="0" anchor="ctr"/>
            <a:lstStyle/>
            <a:p>
              <a:pPr algn="ctr">
                <a:lnSpc>
                  <a:spcPts val="3135"/>
                </a:lnSpc>
              </a:pPr>
              <a:endParaRPr>
                <a:latin typeface="Times New Roman" panose="02020603050405020304" pitchFamily="18" charset="0"/>
                <a:cs typeface="Times New Roman" panose="02020603050405020304" pitchFamily="18" charset="0"/>
              </a:endParaRPr>
            </a:p>
          </p:txBody>
        </p:sp>
      </p:grpSp>
      <p:sp>
        <p:nvSpPr>
          <p:cNvPr id="17" name="TextBox 17"/>
          <p:cNvSpPr txBox="1"/>
          <p:nvPr/>
        </p:nvSpPr>
        <p:spPr>
          <a:xfrm>
            <a:off x="11615183" y="2529082"/>
            <a:ext cx="3075861" cy="371729"/>
          </a:xfrm>
          <a:prstGeom prst="rect">
            <a:avLst/>
          </a:prstGeom>
        </p:spPr>
        <p:txBody>
          <a:bodyPr lIns="0" tIns="0" rIns="0" bIns="0" rtlCol="0" anchor="t">
            <a:spAutoFit/>
          </a:bodyPr>
          <a:lstStyle/>
          <a:p>
            <a:pPr algn="ctr">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Chat Tổng (Broadcast)</a:t>
            </a:r>
          </a:p>
        </p:txBody>
      </p:sp>
      <p:sp>
        <p:nvSpPr>
          <p:cNvPr id="18" name="TextBox 18"/>
          <p:cNvSpPr txBox="1"/>
          <p:nvPr/>
        </p:nvSpPr>
        <p:spPr>
          <a:xfrm>
            <a:off x="9846620" y="3267441"/>
            <a:ext cx="7044885" cy="1152779"/>
          </a:xfrm>
          <a:prstGeom prst="rect">
            <a:avLst/>
          </a:prstGeom>
        </p:spPr>
        <p:txBody>
          <a:bodyPr lIns="0" tIns="0" rIns="0" bIns="0" rtlCol="0" anchor="t">
            <a:spAutoFit/>
          </a:bodyPr>
          <a:lstStyle/>
          <a:p>
            <a:pPr algn="just">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Người dùng có thể gửi tin nhắn đến toàn bộ thành viên cùng kết nối với server, đảm bảo việc giao tiếp công khai và hiệu quả trong cùng một mạng nội bộ.</a:t>
            </a:r>
          </a:p>
        </p:txBody>
      </p:sp>
      <p:sp>
        <p:nvSpPr>
          <p:cNvPr id="19" name="TextBox 19"/>
          <p:cNvSpPr txBox="1"/>
          <p:nvPr/>
        </p:nvSpPr>
        <p:spPr>
          <a:xfrm>
            <a:off x="3581806" y="6414468"/>
            <a:ext cx="2674263" cy="371729"/>
          </a:xfrm>
          <a:prstGeom prst="rect">
            <a:avLst/>
          </a:prstGeom>
        </p:spPr>
        <p:txBody>
          <a:bodyPr lIns="0" tIns="0" rIns="0" bIns="0" rtlCol="0" anchor="t">
            <a:spAutoFit/>
          </a:bodyPr>
          <a:lstStyle/>
          <a:p>
            <a:pPr algn="ctr">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Chat Riêng (Private)</a:t>
            </a:r>
          </a:p>
        </p:txBody>
      </p:sp>
      <p:sp>
        <p:nvSpPr>
          <p:cNvPr id="20" name="TextBox 20"/>
          <p:cNvSpPr txBox="1"/>
          <p:nvPr/>
        </p:nvSpPr>
        <p:spPr>
          <a:xfrm>
            <a:off x="1706156" y="7148147"/>
            <a:ext cx="6802576" cy="1152779"/>
          </a:xfrm>
          <a:prstGeom prst="rect">
            <a:avLst/>
          </a:prstGeom>
        </p:spPr>
        <p:txBody>
          <a:bodyPr lIns="0" tIns="0" rIns="0" bIns="0" rtlCol="0" anchor="t">
            <a:spAutoFit/>
          </a:bodyPr>
          <a:lstStyle/>
          <a:p>
            <a:pPr algn="just">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Cho phép người dùng trực tiếp giao tiếp riêng tư với từng cá nhân khác trong danh sách kết nối, tăng tính cá nhân hóa và bảo mật trong hội thoại.</a:t>
            </a:r>
          </a:p>
        </p:txBody>
      </p:sp>
      <p:sp>
        <p:nvSpPr>
          <p:cNvPr id="21" name="TextBox 21"/>
          <p:cNvSpPr txBox="1"/>
          <p:nvPr/>
        </p:nvSpPr>
        <p:spPr>
          <a:xfrm>
            <a:off x="12218438" y="6414468"/>
            <a:ext cx="2596277" cy="371729"/>
          </a:xfrm>
          <a:prstGeom prst="rect">
            <a:avLst/>
          </a:prstGeom>
        </p:spPr>
        <p:txBody>
          <a:bodyPr lIns="0" tIns="0" rIns="0" bIns="0" rtlCol="0" anchor="t">
            <a:spAutoFit/>
          </a:bodyPr>
          <a:lstStyle/>
          <a:p>
            <a:pPr algn="ctr">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Giao diện minh họa</a:t>
            </a:r>
          </a:p>
        </p:txBody>
      </p:sp>
      <p:sp>
        <p:nvSpPr>
          <p:cNvPr id="22" name="TextBox 22"/>
          <p:cNvSpPr txBox="1"/>
          <p:nvPr/>
        </p:nvSpPr>
        <p:spPr>
          <a:xfrm>
            <a:off x="10390918" y="7148147"/>
            <a:ext cx="6868382" cy="1152779"/>
          </a:xfrm>
          <a:prstGeom prst="rect">
            <a:avLst/>
          </a:prstGeom>
        </p:spPr>
        <p:txBody>
          <a:bodyPr lIns="0" tIns="0" rIns="0" bIns="0" rtlCol="0" anchor="t">
            <a:spAutoFit/>
          </a:bodyPr>
          <a:lstStyle/>
          <a:p>
            <a:pPr algn="just">
              <a:lnSpc>
                <a:spcPts val="3135"/>
              </a:lnSpc>
              <a:spcBef>
                <a:spcPct val="0"/>
              </a:spcBef>
            </a:pPr>
            <a:r>
              <a:rPr lang="en-US" sz="2239">
                <a:solidFill>
                  <a:srgbClr val="000000"/>
                </a:solidFill>
                <a:latin typeface="Times New Roman" panose="02020603050405020304" pitchFamily="18" charset="0"/>
                <a:ea typeface="Open Sauce"/>
                <a:cs typeface="Times New Roman" panose="02020603050405020304" pitchFamily="18" charset="0"/>
                <a:sym typeface="Open Sauce"/>
              </a:rPr>
              <a:t>Cung cấp giao diện chat được thiết kế tiện dụng với hình minh họa rõ ràng cho từng loại chức năng, giúp người dùng thao tác dễ dàng.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5400000">
            <a:off x="470615" y="3124077"/>
            <a:ext cx="7651050" cy="12268447"/>
          </a:xfrm>
          <a:custGeom>
            <a:avLst/>
            <a:gdLst/>
            <a:ahLst/>
            <a:cxnLst/>
            <a:rect l="l" t="t" r="r" b="b"/>
            <a:pathLst>
              <a:path w="7651050" h="12268447">
                <a:moveTo>
                  <a:pt x="0" y="0"/>
                </a:moveTo>
                <a:lnTo>
                  <a:pt x="7651049" y="0"/>
                </a:lnTo>
                <a:lnTo>
                  <a:pt x="7651049" y="12268446"/>
                </a:lnTo>
                <a:lnTo>
                  <a:pt x="0" y="1226844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vi-VN"/>
          </a:p>
        </p:txBody>
      </p:sp>
      <p:grpSp>
        <p:nvGrpSpPr>
          <p:cNvPr id="3" name="Group 3"/>
          <p:cNvGrpSpPr/>
          <p:nvPr/>
        </p:nvGrpSpPr>
        <p:grpSpPr>
          <a:xfrm>
            <a:off x="1028700" y="4218294"/>
            <a:ext cx="4802016" cy="4479196"/>
            <a:chOff x="0" y="0"/>
            <a:chExt cx="1267130" cy="1181946"/>
          </a:xfrm>
        </p:grpSpPr>
        <p:sp>
          <p:nvSpPr>
            <p:cNvPr id="4" name="Freeform 4"/>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5" name="TextBox 5"/>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12457284" y="2085444"/>
            <a:ext cx="4802016" cy="4479196"/>
            <a:chOff x="0" y="0"/>
            <a:chExt cx="1267130" cy="1181946"/>
          </a:xfrm>
        </p:grpSpPr>
        <p:sp>
          <p:nvSpPr>
            <p:cNvPr id="7" name="Freeform 7"/>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8" name="TextBox 8"/>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grpSp>
        <p:nvGrpSpPr>
          <p:cNvPr id="9" name="Group 9"/>
          <p:cNvGrpSpPr/>
          <p:nvPr/>
        </p:nvGrpSpPr>
        <p:grpSpPr>
          <a:xfrm>
            <a:off x="6742992" y="3151869"/>
            <a:ext cx="4802016" cy="4479196"/>
            <a:chOff x="0" y="0"/>
            <a:chExt cx="1267130" cy="1181946"/>
          </a:xfrm>
        </p:grpSpPr>
        <p:sp>
          <p:nvSpPr>
            <p:cNvPr id="10" name="Freeform 10"/>
            <p:cNvSpPr/>
            <p:nvPr/>
          </p:nvSpPr>
          <p:spPr>
            <a:xfrm>
              <a:off x="0" y="0"/>
              <a:ext cx="1267130" cy="1181946"/>
            </a:xfrm>
            <a:custGeom>
              <a:avLst/>
              <a:gdLst/>
              <a:ahLst/>
              <a:cxnLst/>
              <a:rect l="l" t="t" r="r" b="b"/>
              <a:pathLst>
                <a:path w="1267130" h="1181946">
                  <a:moveTo>
                    <a:pt x="46754" y="0"/>
                  </a:moveTo>
                  <a:lnTo>
                    <a:pt x="1220375" y="0"/>
                  </a:lnTo>
                  <a:cubicBezTo>
                    <a:pt x="1232775" y="0"/>
                    <a:pt x="1244667" y="4926"/>
                    <a:pt x="1253436" y="13694"/>
                  </a:cubicBezTo>
                  <a:cubicBezTo>
                    <a:pt x="1262204" y="22462"/>
                    <a:pt x="1267130" y="34354"/>
                    <a:pt x="1267130" y="46754"/>
                  </a:cubicBezTo>
                  <a:lnTo>
                    <a:pt x="1267130" y="1135191"/>
                  </a:lnTo>
                  <a:cubicBezTo>
                    <a:pt x="1267130" y="1147591"/>
                    <a:pt x="1262204" y="1159483"/>
                    <a:pt x="1253436" y="1168252"/>
                  </a:cubicBezTo>
                  <a:cubicBezTo>
                    <a:pt x="1244667" y="1177020"/>
                    <a:pt x="1232775" y="1181946"/>
                    <a:pt x="1220375" y="1181946"/>
                  </a:cubicBezTo>
                  <a:lnTo>
                    <a:pt x="46754" y="1181946"/>
                  </a:lnTo>
                  <a:cubicBezTo>
                    <a:pt x="34354" y="1181946"/>
                    <a:pt x="22462" y="1177020"/>
                    <a:pt x="13694" y="1168252"/>
                  </a:cubicBezTo>
                  <a:cubicBezTo>
                    <a:pt x="4926" y="1159483"/>
                    <a:pt x="0" y="1147591"/>
                    <a:pt x="0" y="1135191"/>
                  </a:cubicBezTo>
                  <a:lnTo>
                    <a:pt x="0" y="46754"/>
                  </a:lnTo>
                  <a:cubicBezTo>
                    <a:pt x="0" y="34354"/>
                    <a:pt x="4926" y="22462"/>
                    <a:pt x="13694" y="13694"/>
                  </a:cubicBezTo>
                  <a:cubicBezTo>
                    <a:pt x="22462" y="4926"/>
                    <a:pt x="34354" y="0"/>
                    <a:pt x="46754"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1" name="TextBox 11"/>
            <p:cNvSpPr txBox="1"/>
            <p:nvPr/>
          </p:nvSpPr>
          <p:spPr>
            <a:xfrm>
              <a:off x="0" y="-38100"/>
              <a:ext cx="1267130" cy="1220046"/>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2" name="TextBox 12"/>
          <p:cNvSpPr txBox="1"/>
          <p:nvPr/>
        </p:nvSpPr>
        <p:spPr>
          <a:xfrm>
            <a:off x="7156122" y="3441417"/>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Bước 2</a:t>
            </a:r>
          </a:p>
        </p:txBody>
      </p:sp>
      <p:sp>
        <p:nvSpPr>
          <p:cNvPr id="13" name="TextBox 13"/>
          <p:cNvSpPr txBox="1"/>
          <p:nvPr/>
        </p:nvSpPr>
        <p:spPr>
          <a:xfrm>
            <a:off x="7156122" y="4029001"/>
            <a:ext cx="4011851" cy="273267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Giao diện tùy chỉnh (Custom UI): Thiết kế bong bóng chat linh hoạt, tự động bẻ dòng chữ theo độ dài tin nhắn. Giao diện trực quan, thân thiện người dùng.</a:t>
            </a:r>
          </a:p>
        </p:txBody>
      </p:sp>
      <p:sp>
        <p:nvSpPr>
          <p:cNvPr id="14" name="Freeform 14"/>
          <p:cNvSpPr/>
          <p:nvPr/>
        </p:nvSpPr>
        <p:spPr>
          <a:xfrm rot="1433494">
            <a:off x="4720623" y="2601486"/>
            <a:ext cx="1519119" cy="1355010"/>
          </a:xfrm>
          <a:custGeom>
            <a:avLst/>
            <a:gdLst/>
            <a:ahLst/>
            <a:cxnLst/>
            <a:rect l="l" t="t" r="r" b="b"/>
            <a:pathLst>
              <a:path w="1519119" h="1355010">
                <a:moveTo>
                  <a:pt x="0" y="0"/>
                </a:moveTo>
                <a:lnTo>
                  <a:pt x="1519119" y="0"/>
                </a:lnTo>
                <a:lnTo>
                  <a:pt x="1519119" y="1355010"/>
                </a:lnTo>
                <a:lnTo>
                  <a:pt x="0" y="1355010"/>
                </a:lnTo>
                <a:lnTo>
                  <a:pt x="0" y="0"/>
                </a:lnTo>
                <a:close/>
              </a:path>
            </a:pathLst>
          </a:custGeom>
          <a:blipFill>
            <a:blip r:embed="rId3"/>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5" name="TextBox 15"/>
          <p:cNvSpPr txBox="1"/>
          <p:nvPr/>
        </p:nvSpPr>
        <p:spPr>
          <a:xfrm>
            <a:off x="1028700" y="609600"/>
            <a:ext cx="10516308" cy="1423916"/>
          </a:xfrm>
          <a:prstGeom prst="rect">
            <a:avLst/>
          </a:prstGeom>
        </p:spPr>
        <p:txBody>
          <a:bodyPr lIns="0" tIns="0" rIns="0" bIns="0" rtlCol="0" anchor="t">
            <a:spAutoFit/>
          </a:bodyPr>
          <a:lstStyle/>
          <a:p>
            <a:pPr marL="0" lvl="0" indent="0" algn="l">
              <a:lnSpc>
                <a:spcPts val="12117"/>
              </a:lnSpc>
              <a:spcBef>
                <a:spcPct val="0"/>
              </a:spcBef>
            </a:pPr>
            <a:r>
              <a:rPr lang="en-US" sz="8655"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Điểm nhấn Kỹ thuật</a:t>
            </a:r>
          </a:p>
        </p:txBody>
      </p:sp>
      <p:sp>
        <p:nvSpPr>
          <p:cNvPr id="16" name="Freeform 16"/>
          <p:cNvSpPr/>
          <p:nvPr/>
        </p:nvSpPr>
        <p:spPr>
          <a:xfrm rot="1433494">
            <a:off x="10194465" y="1547577"/>
            <a:ext cx="1839125" cy="1534071"/>
          </a:xfrm>
          <a:custGeom>
            <a:avLst/>
            <a:gdLst/>
            <a:ahLst/>
            <a:cxnLst/>
            <a:rect l="l" t="t" r="r" b="b"/>
            <a:pathLst>
              <a:path w="1839125" h="1534071">
                <a:moveTo>
                  <a:pt x="0" y="0"/>
                </a:moveTo>
                <a:lnTo>
                  <a:pt x="1839125" y="0"/>
                </a:lnTo>
                <a:lnTo>
                  <a:pt x="1839125" y="1534071"/>
                </a:lnTo>
                <a:lnTo>
                  <a:pt x="0" y="1534071"/>
                </a:lnTo>
                <a:lnTo>
                  <a:pt x="0" y="0"/>
                </a:lnTo>
                <a:close/>
              </a:path>
            </a:pathLst>
          </a:custGeom>
          <a:blipFill>
            <a:blip r:embed="rId4"/>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7" name="TextBox 17"/>
          <p:cNvSpPr txBox="1"/>
          <p:nvPr/>
        </p:nvSpPr>
        <p:spPr>
          <a:xfrm>
            <a:off x="1441830" y="4507842"/>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Bước 1</a:t>
            </a:r>
          </a:p>
        </p:txBody>
      </p:sp>
      <p:sp>
        <p:nvSpPr>
          <p:cNvPr id="18" name="TextBox 18"/>
          <p:cNvSpPr txBox="1"/>
          <p:nvPr/>
        </p:nvSpPr>
        <p:spPr>
          <a:xfrm>
            <a:off x="1441830" y="5095427"/>
            <a:ext cx="4011851" cy="273267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Bất đồng bộ (Async/Await): Tránh đơ UI client khi chờ phản hồi từ server. Server hoạt động ổn định với nhiều kết nối đồng thời nhờ xử lý không đồng bộ.</a:t>
            </a:r>
          </a:p>
        </p:txBody>
      </p:sp>
      <p:sp>
        <p:nvSpPr>
          <p:cNvPr id="19" name="TextBox 19"/>
          <p:cNvSpPr txBox="1"/>
          <p:nvPr/>
        </p:nvSpPr>
        <p:spPr>
          <a:xfrm>
            <a:off x="12870414" y="2374992"/>
            <a:ext cx="3784832" cy="459165"/>
          </a:xfrm>
          <a:prstGeom prst="rect">
            <a:avLst/>
          </a:prstGeom>
        </p:spPr>
        <p:txBody>
          <a:bodyPr lIns="0" tIns="0" rIns="0" bIns="0" rtlCol="0" anchor="t">
            <a:spAutoFit/>
          </a:bodyPr>
          <a:lstStyle/>
          <a:p>
            <a:pPr marL="0" lvl="0" indent="0" algn="l">
              <a:lnSpc>
                <a:spcPts val="3917"/>
              </a:lnSpc>
              <a:spcBef>
                <a:spcPct val="0"/>
              </a:spcBef>
            </a:pPr>
            <a:r>
              <a:rPr lang="en-US" sz="2798" b="1" spc="13">
                <a:solidFill>
                  <a:srgbClr val="181D2B"/>
                </a:solidFill>
                <a:latin typeface="Times New Roman" panose="02020603050405020304" pitchFamily="18" charset="0"/>
                <a:ea typeface="Open Sauce Bold"/>
                <a:cs typeface="Times New Roman" panose="02020603050405020304" pitchFamily="18" charset="0"/>
                <a:sym typeface="Open Sauce Bold"/>
              </a:rPr>
              <a:t>Bước 3</a:t>
            </a:r>
          </a:p>
        </p:txBody>
      </p:sp>
      <p:sp>
        <p:nvSpPr>
          <p:cNvPr id="20" name="TextBox 20"/>
          <p:cNvSpPr txBox="1"/>
          <p:nvPr/>
        </p:nvSpPr>
        <p:spPr>
          <a:xfrm>
            <a:off x="12870414" y="2962576"/>
            <a:ext cx="4011851" cy="2271006"/>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Xử lý ngoại lệ: Bắt lỗi rớt mạng đột ngột (Alt+F4, rút cáp mạng). Tự động dọn dẹp bộ nhớ và cập nhật trạng thái người dùng offline.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5400000" flipH="1">
            <a:off x="8856179" y="2513730"/>
            <a:ext cx="11923595" cy="8953536"/>
          </a:xfrm>
          <a:custGeom>
            <a:avLst/>
            <a:gdLst/>
            <a:ahLst/>
            <a:cxnLst/>
            <a:rect l="l" t="t" r="r" b="b"/>
            <a:pathLst>
              <a:path w="11923595" h="8953536">
                <a:moveTo>
                  <a:pt x="11923595" y="0"/>
                </a:moveTo>
                <a:lnTo>
                  <a:pt x="0" y="0"/>
                </a:lnTo>
                <a:lnTo>
                  <a:pt x="0" y="8953536"/>
                </a:lnTo>
                <a:lnTo>
                  <a:pt x="11923595" y="8953536"/>
                </a:lnTo>
                <a:lnTo>
                  <a:pt x="11923595"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vi-VN"/>
          </a:p>
        </p:txBody>
      </p:sp>
      <p:sp>
        <p:nvSpPr>
          <p:cNvPr id="3" name="TextBox 3"/>
          <p:cNvSpPr txBox="1"/>
          <p:nvPr/>
        </p:nvSpPr>
        <p:spPr>
          <a:xfrm>
            <a:off x="1028700" y="246961"/>
            <a:ext cx="11239500" cy="1267398"/>
          </a:xfrm>
          <a:prstGeom prst="rect">
            <a:avLst/>
          </a:prstGeom>
        </p:spPr>
        <p:txBody>
          <a:bodyPr wrap="square" lIns="0" tIns="0" rIns="0" bIns="0" rtlCol="0" anchor="t">
            <a:spAutoFit/>
          </a:bodyPr>
          <a:lstStyle/>
          <a:p>
            <a:pPr marL="0" lvl="0" indent="0" algn="l">
              <a:lnSpc>
                <a:spcPts val="10505"/>
              </a:lnSpc>
              <a:spcBef>
                <a:spcPct val="0"/>
              </a:spcBef>
            </a:pPr>
            <a:r>
              <a:rPr lang="en-US" sz="7504" b="1" u="none" strike="noStrike" dirty="0">
                <a:solidFill>
                  <a:srgbClr val="2B598F"/>
                </a:solidFill>
                <a:latin typeface="Times New Roman" panose="02020603050405020304" pitchFamily="18" charset="0"/>
                <a:ea typeface="Agrandir Bold"/>
                <a:cs typeface="Times New Roman" panose="02020603050405020304" pitchFamily="18" charset="0"/>
                <a:sym typeface="Agrandir Bold"/>
              </a:rPr>
              <a:t>Giao </a:t>
            </a:r>
            <a:r>
              <a:rPr lang="en-US" sz="7504" b="1" u="none" strike="noStrike" dirty="0" err="1">
                <a:solidFill>
                  <a:srgbClr val="2B598F"/>
                </a:solidFill>
                <a:latin typeface="Times New Roman" panose="02020603050405020304" pitchFamily="18" charset="0"/>
                <a:ea typeface="Agrandir Bold"/>
                <a:cs typeface="Times New Roman" panose="02020603050405020304" pitchFamily="18" charset="0"/>
                <a:sym typeface="Agrandir Bold"/>
              </a:rPr>
              <a:t>diện</a:t>
            </a:r>
            <a:r>
              <a:rPr lang="en-US" sz="7504" b="1" u="none" strike="noStrike" dirty="0">
                <a:solidFill>
                  <a:srgbClr val="2B598F"/>
                </a:solidFill>
                <a:latin typeface="Times New Roman" panose="02020603050405020304" pitchFamily="18" charset="0"/>
                <a:ea typeface="Agrandir Bold"/>
                <a:cs typeface="Times New Roman" panose="02020603050405020304" pitchFamily="18" charset="0"/>
                <a:sym typeface="Agrandir Bold"/>
              </a:rPr>
              <a:t> </a:t>
            </a:r>
            <a:r>
              <a:rPr lang="en-US" sz="7504" b="1" u="none" strike="noStrike" dirty="0" err="1">
                <a:solidFill>
                  <a:srgbClr val="2B598F"/>
                </a:solidFill>
                <a:latin typeface="Times New Roman" panose="02020603050405020304" pitchFamily="18" charset="0"/>
                <a:ea typeface="Agrandir Bold"/>
                <a:cs typeface="Times New Roman" panose="02020603050405020304" pitchFamily="18" charset="0"/>
                <a:sym typeface="Agrandir Bold"/>
              </a:rPr>
              <a:t>ứng</a:t>
            </a:r>
            <a:r>
              <a:rPr lang="en-US" sz="7504" b="1" u="none" strike="noStrike" dirty="0">
                <a:solidFill>
                  <a:srgbClr val="2B598F"/>
                </a:solidFill>
                <a:latin typeface="Times New Roman" panose="02020603050405020304" pitchFamily="18" charset="0"/>
                <a:ea typeface="Agrandir Bold"/>
                <a:cs typeface="Times New Roman" panose="02020603050405020304" pitchFamily="18" charset="0"/>
                <a:sym typeface="Agrandir Bold"/>
              </a:rPr>
              <a:t> </a:t>
            </a:r>
            <a:r>
              <a:rPr lang="en-US" sz="7504" b="1" u="none" strike="noStrike" dirty="0" err="1">
                <a:solidFill>
                  <a:srgbClr val="2B598F"/>
                </a:solidFill>
                <a:latin typeface="Times New Roman" panose="02020603050405020304" pitchFamily="18" charset="0"/>
                <a:ea typeface="Agrandir Bold"/>
                <a:cs typeface="Times New Roman" panose="02020603050405020304" pitchFamily="18" charset="0"/>
                <a:sym typeface="Agrandir Bold"/>
              </a:rPr>
              <a:t>dụng</a:t>
            </a:r>
            <a:endParaRPr lang="en-US" sz="7504" b="1" u="none" strike="noStrike" dirty="0">
              <a:solidFill>
                <a:srgbClr val="2B598F"/>
              </a:solidFill>
              <a:latin typeface="Times New Roman" panose="02020603050405020304" pitchFamily="18" charset="0"/>
              <a:ea typeface="Agrandir Bold"/>
              <a:cs typeface="Times New Roman" panose="02020603050405020304" pitchFamily="18" charset="0"/>
              <a:sym typeface="Agrandir Bold"/>
            </a:endParaRPr>
          </a:p>
        </p:txBody>
      </p:sp>
      <p:sp>
        <p:nvSpPr>
          <p:cNvPr id="4" name="Freeform 4"/>
          <p:cNvSpPr/>
          <p:nvPr/>
        </p:nvSpPr>
        <p:spPr>
          <a:xfrm>
            <a:off x="1028700" y="1751806"/>
            <a:ext cx="14981981" cy="7959177"/>
          </a:xfrm>
          <a:custGeom>
            <a:avLst/>
            <a:gdLst/>
            <a:ahLst/>
            <a:cxnLst/>
            <a:rect l="l" t="t" r="r" b="b"/>
            <a:pathLst>
              <a:path w="14981981" h="7959177">
                <a:moveTo>
                  <a:pt x="0" y="0"/>
                </a:moveTo>
                <a:lnTo>
                  <a:pt x="14981981" y="0"/>
                </a:lnTo>
                <a:lnTo>
                  <a:pt x="14981981" y="7959177"/>
                </a:lnTo>
                <a:lnTo>
                  <a:pt x="0" y="7959177"/>
                </a:lnTo>
                <a:lnTo>
                  <a:pt x="0" y="0"/>
                </a:lnTo>
                <a:close/>
              </a:path>
            </a:pathLst>
          </a:custGeom>
          <a:blipFill>
            <a:blip r:embed="rId3"/>
            <a:stretch>
              <a:fillRect/>
            </a:stretch>
          </a:blipFill>
        </p:spPr>
        <p:txBody>
          <a:bodyPr/>
          <a:lstStyle/>
          <a:p>
            <a:endParaRPr lang="vi-V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rot="-5400000">
            <a:off x="14176941" y="-3741"/>
            <a:ext cx="4107319" cy="4114800"/>
          </a:xfrm>
          <a:custGeom>
            <a:avLst/>
            <a:gdLst/>
            <a:ahLst/>
            <a:cxnLst/>
            <a:rect l="l" t="t" r="r" b="b"/>
            <a:pathLst>
              <a:path w="4107319" h="4114800">
                <a:moveTo>
                  <a:pt x="0" y="0"/>
                </a:moveTo>
                <a:lnTo>
                  <a:pt x="4107318" y="0"/>
                </a:lnTo>
                <a:lnTo>
                  <a:pt x="410731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vi-VN"/>
          </a:p>
        </p:txBody>
      </p:sp>
      <p:sp>
        <p:nvSpPr>
          <p:cNvPr id="3" name="TextBox 3"/>
          <p:cNvSpPr txBox="1"/>
          <p:nvPr/>
        </p:nvSpPr>
        <p:spPr>
          <a:xfrm>
            <a:off x="1028700" y="600075"/>
            <a:ext cx="14152457" cy="1447319"/>
          </a:xfrm>
          <a:prstGeom prst="rect">
            <a:avLst/>
          </a:prstGeom>
        </p:spPr>
        <p:txBody>
          <a:bodyPr lIns="0" tIns="0" rIns="0" bIns="0" rtlCol="0" anchor="t">
            <a:spAutoFit/>
          </a:bodyPr>
          <a:lstStyle/>
          <a:p>
            <a:pPr marL="0" lvl="0" indent="0" algn="l">
              <a:lnSpc>
                <a:spcPts val="12311"/>
              </a:lnSpc>
              <a:spcBef>
                <a:spcPct val="0"/>
              </a:spcBef>
            </a:pPr>
            <a:r>
              <a:rPr lang="en-US" sz="8793"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Kết quả Kiểm thử</a:t>
            </a:r>
          </a:p>
        </p:txBody>
      </p:sp>
      <p:sp>
        <p:nvSpPr>
          <p:cNvPr id="4" name="Freeform 4"/>
          <p:cNvSpPr/>
          <p:nvPr/>
        </p:nvSpPr>
        <p:spPr>
          <a:xfrm rot="5400000">
            <a:off x="3741" y="6175941"/>
            <a:ext cx="4107319" cy="4114800"/>
          </a:xfrm>
          <a:custGeom>
            <a:avLst/>
            <a:gdLst/>
            <a:ahLst/>
            <a:cxnLst/>
            <a:rect l="l" t="t" r="r" b="b"/>
            <a:pathLst>
              <a:path w="4107319" h="4114800">
                <a:moveTo>
                  <a:pt x="0" y="0"/>
                </a:moveTo>
                <a:lnTo>
                  <a:pt x="4107318" y="0"/>
                </a:lnTo>
                <a:lnTo>
                  <a:pt x="410731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vi-VN"/>
          </a:p>
        </p:txBody>
      </p:sp>
      <p:grpSp>
        <p:nvGrpSpPr>
          <p:cNvPr id="5" name="Group 5"/>
          <p:cNvGrpSpPr/>
          <p:nvPr/>
        </p:nvGrpSpPr>
        <p:grpSpPr>
          <a:xfrm>
            <a:off x="1720101" y="2959472"/>
            <a:ext cx="8974827" cy="5273869"/>
            <a:chOff x="0" y="0"/>
            <a:chExt cx="2368228" cy="1391640"/>
          </a:xfrm>
        </p:grpSpPr>
        <p:sp>
          <p:nvSpPr>
            <p:cNvPr id="6" name="Freeform 6"/>
            <p:cNvSpPr/>
            <p:nvPr/>
          </p:nvSpPr>
          <p:spPr>
            <a:xfrm>
              <a:off x="0" y="0"/>
              <a:ext cx="2368228" cy="1391640"/>
            </a:xfrm>
            <a:custGeom>
              <a:avLst/>
              <a:gdLst/>
              <a:ahLst/>
              <a:cxnLst/>
              <a:rect l="l" t="t" r="r" b="b"/>
              <a:pathLst>
                <a:path w="2368228" h="1391640">
                  <a:moveTo>
                    <a:pt x="25016" y="0"/>
                  </a:moveTo>
                  <a:lnTo>
                    <a:pt x="2343212" y="0"/>
                  </a:lnTo>
                  <a:cubicBezTo>
                    <a:pt x="2349847" y="0"/>
                    <a:pt x="2356210" y="2636"/>
                    <a:pt x="2360901" y="7327"/>
                  </a:cubicBezTo>
                  <a:cubicBezTo>
                    <a:pt x="2365592" y="12019"/>
                    <a:pt x="2368228" y="18381"/>
                    <a:pt x="2368228" y="25016"/>
                  </a:cubicBezTo>
                  <a:lnTo>
                    <a:pt x="2368228" y="1366623"/>
                  </a:lnTo>
                  <a:cubicBezTo>
                    <a:pt x="2368228" y="1373258"/>
                    <a:pt x="2365592" y="1379621"/>
                    <a:pt x="2360901" y="1384312"/>
                  </a:cubicBezTo>
                  <a:cubicBezTo>
                    <a:pt x="2356210" y="1389004"/>
                    <a:pt x="2349847" y="1391640"/>
                    <a:pt x="2343212" y="1391640"/>
                  </a:cubicBezTo>
                  <a:lnTo>
                    <a:pt x="25016" y="1391640"/>
                  </a:lnTo>
                  <a:cubicBezTo>
                    <a:pt x="18381" y="1391640"/>
                    <a:pt x="12019" y="1389004"/>
                    <a:pt x="7327" y="1384312"/>
                  </a:cubicBezTo>
                  <a:cubicBezTo>
                    <a:pt x="2636" y="1379621"/>
                    <a:pt x="0" y="1373258"/>
                    <a:pt x="0" y="1366623"/>
                  </a:cubicBezTo>
                  <a:lnTo>
                    <a:pt x="0" y="25016"/>
                  </a:lnTo>
                  <a:cubicBezTo>
                    <a:pt x="0" y="18381"/>
                    <a:pt x="2636" y="12019"/>
                    <a:pt x="7327" y="7327"/>
                  </a:cubicBezTo>
                  <a:cubicBezTo>
                    <a:pt x="12019" y="2636"/>
                    <a:pt x="18381" y="0"/>
                    <a:pt x="25016"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7" name="TextBox 7"/>
            <p:cNvSpPr txBox="1"/>
            <p:nvPr/>
          </p:nvSpPr>
          <p:spPr>
            <a:xfrm>
              <a:off x="0" y="-38100"/>
              <a:ext cx="2368228" cy="1429740"/>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8" name="Freeform 8"/>
          <p:cNvSpPr/>
          <p:nvPr/>
        </p:nvSpPr>
        <p:spPr>
          <a:xfrm>
            <a:off x="1843348" y="3380694"/>
            <a:ext cx="428104" cy="428104"/>
          </a:xfrm>
          <a:custGeom>
            <a:avLst/>
            <a:gdLst/>
            <a:ahLst/>
            <a:cxnLst/>
            <a:rect l="l" t="t" r="r" b="b"/>
            <a:pathLst>
              <a:path w="428104" h="428104">
                <a:moveTo>
                  <a:pt x="0" y="0"/>
                </a:moveTo>
                <a:lnTo>
                  <a:pt x="428104" y="0"/>
                </a:lnTo>
                <a:lnTo>
                  <a:pt x="428104" y="428103"/>
                </a:lnTo>
                <a:lnTo>
                  <a:pt x="0" y="4281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9" name="Freeform 9"/>
          <p:cNvSpPr/>
          <p:nvPr/>
        </p:nvSpPr>
        <p:spPr>
          <a:xfrm>
            <a:off x="1858588" y="6117528"/>
            <a:ext cx="428104" cy="428104"/>
          </a:xfrm>
          <a:custGeom>
            <a:avLst/>
            <a:gdLst/>
            <a:ahLst/>
            <a:cxnLst/>
            <a:rect l="l" t="t" r="r" b="b"/>
            <a:pathLst>
              <a:path w="428104" h="428104">
                <a:moveTo>
                  <a:pt x="0" y="0"/>
                </a:moveTo>
                <a:lnTo>
                  <a:pt x="428104" y="0"/>
                </a:lnTo>
                <a:lnTo>
                  <a:pt x="428104" y="428103"/>
                </a:lnTo>
                <a:lnTo>
                  <a:pt x="0" y="4281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10" name="TextBox 10"/>
          <p:cNvSpPr txBox="1"/>
          <p:nvPr/>
        </p:nvSpPr>
        <p:spPr>
          <a:xfrm>
            <a:off x="2635830" y="3333069"/>
            <a:ext cx="6860619" cy="1810431"/>
          </a:xfrm>
          <a:prstGeom prst="rect">
            <a:avLst/>
          </a:prstGeom>
        </p:spPr>
        <p:txBody>
          <a:bodyPr lIns="0" tIns="0" rIns="0" bIns="0" rtlCol="0" anchor="t">
            <a:spAutoFit/>
          </a:bodyPr>
          <a:lstStyle/>
          <a:p>
            <a:pPr marL="0" lvl="0" indent="0" algn="l">
              <a:lnSpc>
                <a:spcPts val="3637"/>
              </a:lnSpc>
              <a:spcBef>
                <a:spcPct val="0"/>
              </a:spcBef>
            </a:pPr>
            <a:r>
              <a:rPr lang="en-US" sz="2598"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Kiểm tra lỗi IP/Port không hợp lệ: Hệ thống phát hiện và thông báo chính xác khi người dùng nhập sai định dạng IP hoặc Port ngoài phạm vi cho phép.</a:t>
            </a:r>
          </a:p>
        </p:txBody>
      </p:sp>
      <p:sp>
        <p:nvSpPr>
          <p:cNvPr id="11" name="TextBox 11"/>
          <p:cNvSpPr txBox="1"/>
          <p:nvPr/>
        </p:nvSpPr>
        <p:spPr>
          <a:xfrm>
            <a:off x="2635830" y="6117528"/>
            <a:ext cx="6660570" cy="886012"/>
          </a:xfrm>
          <a:prstGeom prst="rect">
            <a:avLst/>
          </a:prstGeom>
        </p:spPr>
        <p:txBody>
          <a:bodyPr wrap="square" lIns="0" tIns="0" rIns="0" bIns="0" rtlCol="0" anchor="t">
            <a:spAutoFit/>
          </a:bodyPr>
          <a:lstStyle/>
          <a:p>
            <a:pPr marL="0" lvl="0" indent="0" algn="l">
              <a:lnSpc>
                <a:spcPts val="3637"/>
              </a:lnSpc>
              <a:spcBef>
                <a:spcPct val="0"/>
              </a:spcBef>
            </a:pP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Stress Test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đa</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kết</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nối</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Ứng</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dụng</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hoạt</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động</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mượt</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mà</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với</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10-20 Client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kết</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nối</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đồng</a:t>
            </a:r>
            <a:r>
              <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rPr>
              <a:t> </a:t>
            </a:r>
            <a:r>
              <a:rPr lang="en-US" sz="2598" u="none" strike="noStrike" spc="12" dirty="0" err="1">
                <a:solidFill>
                  <a:srgbClr val="181D2B"/>
                </a:solidFill>
                <a:latin typeface="Times New Roman" panose="02020603050405020304" pitchFamily="18" charset="0"/>
                <a:ea typeface="Open Sauce"/>
                <a:cs typeface="Times New Roman" panose="02020603050405020304" pitchFamily="18" charset="0"/>
                <a:sym typeface="Open Sauce"/>
              </a:rPr>
              <a:t>thời</a:t>
            </a:r>
            <a:endParaRPr lang="en-US" sz="2598" u="none" strike="noStrike" spc="12" dirty="0">
              <a:solidFill>
                <a:srgbClr val="181D2B"/>
              </a:solidFill>
              <a:latin typeface="Times New Roman" panose="02020603050405020304" pitchFamily="18" charset="0"/>
              <a:ea typeface="Open Sauce"/>
              <a:cs typeface="Times New Roman" panose="02020603050405020304" pitchFamily="18" charset="0"/>
              <a:sym typeface="Open Sauc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a:off x="4462607" y="220281"/>
            <a:ext cx="8756591" cy="4662885"/>
          </a:xfrm>
          <a:custGeom>
            <a:avLst/>
            <a:gdLst/>
            <a:ahLst/>
            <a:cxnLst/>
            <a:rect l="l" t="t" r="r" b="b"/>
            <a:pathLst>
              <a:path w="8756591" h="4662885">
                <a:moveTo>
                  <a:pt x="0" y="0"/>
                </a:moveTo>
                <a:lnTo>
                  <a:pt x="8756590" y="0"/>
                </a:lnTo>
                <a:lnTo>
                  <a:pt x="8756590" y="4662885"/>
                </a:lnTo>
                <a:lnTo>
                  <a:pt x="0" y="4662885"/>
                </a:lnTo>
                <a:lnTo>
                  <a:pt x="0" y="0"/>
                </a:lnTo>
                <a:close/>
              </a:path>
            </a:pathLst>
          </a:custGeom>
          <a:blipFill>
            <a:blip r:embed="rId2"/>
            <a:stretch>
              <a:fillRect/>
            </a:stretch>
          </a:blipFill>
        </p:spPr>
        <p:txBody>
          <a:bodyPr/>
          <a:lstStyle/>
          <a:p>
            <a:endParaRPr lang="vi-VN"/>
          </a:p>
        </p:txBody>
      </p:sp>
      <p:sp>
        <p:nvSpPr>
          <p:cNvPr id="3" name="Freeform 3"/>
          <p:cNvSpPr/>
          <p:nvPr/>
        </p:nvSpPr>
        <p:spPr>
          <a:xfrm>
            <a:off x="4462607" y="5143500"/>
            <a:ext cx="8890841" cy="4723259"/>
          </a:xfrm>
          <a:custGeom>
            <a:avLst/>
            <a:gdLst/>
            <a:ahLst/>
            <a:cxnLst/>
            <a:rect l="l" t="t" r="r" b="b"/>
            <a:pathLst>
              <a:path w="8890841" h="4723259">
                <a:moveTo>
                  <a:pt x="0" y="0"/>
                </a:moveTo>
                <a:lnTo>
                  <a:pt x="8890840" y="0"/>
                </a:lnTo>
                <a:lnTo>
                  <a:pt x="8890840" y="4723259"/>
                </a:lnTo>
                <a:lnTo>
                  <a:pt x="0" y="4723259"/>
                </a:lnTo>
                <a:lnTo>
                  <a:pt x="0" y="0"/>
                </a:lnTo>
                <a:close/>
              </a:path>
            </a:pathLst>
          </a:custGeom>
          <a:blipFill>
            <a:blip r:embed="rId3"/>
            <a:stretch>
              <a:fillRect/>
            </a:stretch>
          </a:blipFill>
        </p:spPr>
        <p:txBody>
          <a:bodyPr/>
          <a:lstStyle/>
          <a:p>
            <a:endParaRPr lang="vi-V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a:off x="-510279" y="2121870"/>
            <a:ext cx="6095650" cy="6095650"/>
          </a:xfrm>
          <a:custGeom>
            <a:avLst/>
            <a:gdLst/>
            <a:ahLst/>
            <a:cxnLst/>
            <a:rect l="l" t="t" r="r" b="b"/>
            <a:pathLst>
              <a:path w="6095650" h="6095650">
                <a:moveTo>
                  <a:pt x="0" y="0"/>
                </a:moveTo>
                <a:lnTo>
                  <a:pt x="6095650" y="0"/>
                </a:lnTo>
                <a:lnTo>
                  <a:pt x="6095650" y="6095650"/>
                </a:lnTo>
                <a:lnTo>
                  <a:pt x="0" y="6095650"/>
                </a:lnTo>
                <a:lnTo>
                  <a:pt x="0" y="0"/>
                </a:lnTo>
                <a:close/>
              </a:path>
            </a:pathLst>
          </a:custGeom>
          <a:blipFill>
            <a:blip>
              <a:extLst>
                <a:ext uri="{96DAC541-7B7A-43D3-8B79-37D633B846F1}">
                  <asvg:svgBlip xmlns:asvg="http://schemas.microsoft.com/office/drawing/2016/SVG/main" r:embed="rId2"/>
                </a:ext>
              </a:extLst>
            </a:blip>
            <a:stretch>
              <a:fillRect l="-31923" t="-30783" r="-30783" b="-31923"/>
            </a:stretch>
          </a:blipFill>
          <a:ln cap="rnd">
            <a:noFill/>
            <a:prstDash val="solid"/>
            <a:round/>
          </a:ln>
        </p:spPr>
        <p:txBody>
          <a:bodyPr/>
          <a:lstStyle/>
          <a:p>
            <a:endParaRPr lang="vi-VN"/>
          </a:p>
        </p:txBody>
      </p:sp>
      <p:sp>
        <p:nvSpPr>
          <p:cNvPr id="3" name="TextBox 3"/>
          <p:cNvSpPr txBox="1"/>
          <p:nvPr/>
        </p:nvSpPr>
        <p:spPr>
          <a:xfrm>
            <a:off x="2879338" y="704850"/>
            <a:ext cx="12529324" cy="1152944"/>
          </a:xfrm>
          <a:prstGeom prst="rect">
            <a:avLst/>
          </a:prstGeom>
        </p:spPr>
        <p:txBody>
          <a:bodyPr lIns="0" tIns="0" rIns="0" bIns="0" rtlCol="0" anchor="t">
            <a:spAutoFit/>
          </a:bodyPr>
          <a:lstStyle/>
          <a:p>
            <a:pPr marL="0" lvl="0" indent="0" algn="just">
              <a:lnSpc>
                <a:spcPts val="9799"/>
              </a:lnSpc>
              <a:spcBef>
                <a:spcPct val="0"/>
              </a:spcBef>
            </a:pPr>
            <a:r>
              <a:rPr lang="en-US" sz="6999"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Kết luận &amp; Hướng phát triển</a:t>
            </a:r>
          </a:p>
        </p:txBody>
      </p:sp>
      <p:grpSp>
        <p:nvGrpSpPr>
          <p:cNvPr id="4" name="Group 4"/>
          <p:cNvGrpSpPr/>
          <p:nvPr/>
        </p:nvGrpSpPr>
        <p:grpSpPr>
          <a:xfrm>
            <a:off x="5900989" y="2643550"/>
            <a:ext cx="10863414" cy="2167257"/>
            <a:chOff x="0" y="0"/>
            <a:chExt cx="2866578" cy="571884"/>
          </a:xfrm>
        </p:grpSpPr>
        <p:sp>
          <p:nvSpPr>
            <p:cNvPr id="5" name="Freeform 5"/>
            <p:cNvSpPr/>
            <p:nvPr/>
          </p:nvSpPr>
          <p:spPr>
            <a:xfrm>
              <a:off x="0" y="0"/>
              <a:ext cx="2866578" cy="571884"/>
            </a:xfrm>
            <a:custGeom>
              <a:avLst/>
              <a:gdLst/>
              <a:ahLst/>
              <a:cxnLst/>
              <a:rect l="l" t="t" r="r" b="b"/>
              <a:pathLst>
                <a:path w="2866578" h="571884">
                  <a:moveTo>
                    <a:pt x="20667" y="0"/>
                  </a:moveTo>
                  <a:lnTo>
                    <a:pt x="2845911" y="0"/>
                  </a:lnTo>
                  <a:cubicBezTo>
                    <a:pt x="2857325" y="0"/>
                    <a:pt x="2866578" y="9253"/>
                    <a:pt x="2866578" y="20667"/>
                  </a:cubicBezTo>
                  <a:lnTo>
                    <a:pt x="2866578" y="551217"/>
                  </a:lnTo>
                  <a:cubicBezTo>
                    <a:pt x="2866578" y="556698"/>
                    <a:pt x="2864401" y="561955"/>
                    <a:pt x="2860525" y="565831"/>
                  </a:cubicBezTo>
                  <a:cubicBezTo>
                    <a:pt x="2856649" y="569706"/>
                    <a:pt x="2851392" y="571884"/>
                    <a:pt x="2845911" y="571884"/>
                  </a:cubicBezTo>
                  <a:lnTo>
                    <a:pt x="20667" y="571884"/>
                  </a:lnTo>
                  <a:cubicBezTo>
                    <a:pt x="15186" y="571884"/>
                    <a:pt x="9929" y="569706"/>
                    <a:pt x="6053" y="565831"/>
                  </a:cubicBezTo>
                  <a:cubicBezTo>
                    <a:pt x="2177" y="561955"/>
                    <a:pt x="0" y="556698"/>
                    <a:pt x="0" y="551217"/>
                  </a:cubicBezTo>
                  <a:lnTo>
                    <a:pt x="0" y="20667"/>
                  </a:lnTo>
                  <a:cubicBezTo>
                    <a:pt x="0" y="15186"/>
                    <a:pt x="2177" y="9929"/>
                    <a:pt x="6053" y="6053"/>
                  </a:cubicBezTo>
                  <a:cubicBezTo>
                    <a:pt x="9929" y="2177"/>
                    <a:pt x="15186" y="0"/>
                    <a:pt x="20667"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6" name="TextBox 6"/>
            <p:cNvSpPr txBox="1"/>
            <p:nvPr/>
          </p:nvSpPr>
          <p:spPr>
            <a:xfrm>
              <a:off x="0" y="-38100"/>
              <a:ext cx="2866578" cy="609984"/>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7" name="TextBox 7"/>
          <p:cNvSpPr txBox="1"/>
          <p:nvPr/>
        </p:nvSpPr>
        <p:spPr>
          <a:xfrm>
            <a:off x="6425537" y="3028011"/>
            <a:ext cx="9523548" cy="1350757"/>
          </a:xfrm>
          <a:prstGeom prst="rect">
            <a:avLst/>
          </a:prstGeom>
        </p:spPr>
        <p:txBody>
          <a:bodyPr lIns="0" tIns="0" rIns="0" bIns="0" rtlCol="0" anchor="t">
            <a:spAutoFit/>
          </a:bodyPr>
          <a:lstStyle/>
          <a:p>
            <a:pPr marL="0" lvl="0" indent="0" algn="l">
              <a:lnSpc>
                <a:spcPts val="3630"/>
              </a:lnSpc>
              <a:spcBef>
                <a:spcPct val="0"/>
              </a:spcBef>
            </a:pPr>
            <a:r>
              <a:rPr lang="en-US" sz="2593"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Kết quả đạt được: Ứng dụng hoạt động ổn định, không crash trong quá trình sử dụng, kiến trúc code sạch và dễ bảo trì, đáp ứng đầy đủ các tính năng chat cơ bản.</a:t>
            </a:r>
          </a:p>
        </p:txBody>
      </p:sp>
      <p:sp>
        <p:nvSpPr>
          <p:cNvPr id="8" name="Freeform 8"/>
          <p:cNvSpPr/>
          <p:nvPr/>
        </p:nvSpPr>
        <p:spPr>
          <a:xfrm>
            <a:off x="4998624" y="3615501"/>
            <a:ext cx="586747" cy="223355"/>
          </a:xfrm>
          <a:custGeom>
            <a:avLst/>
            <a:gdLst/>
            <a:ahLst/>
            <a:cxnLst/>
            <a:rect l="l" t="t" r="r" b="b"/>
            <a:pathLst>
              <a:path w="586747" h="223355">
                <a:moveTo>
                  <a:pt x="0" y="0"/>
                </a:moveTo>
                <a:lnTo>
                  <a:pt x="586747" y="0"/>
                </a:lnTo>
                <a:lnTo>
                  <a:pt x="586747" y="223355"/>
                </a:lnTo>
                <a:lnTo>
                  <a:pt x="0" y="2233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
        <p:nvSpPr>
          <p:cNvPr id="9" name="Freeform 9"/>
          <p:cNvSpPr/>
          <p:nvPr/>
        </p:nvSpPr>
        <p:spPr>
          <a:xfrm rot="-9340067">
            <a:off x="815632" y="3490418"/>
            <a:ext cx="4849038" cy="5671643"/>
          </a:xfrm>
          <a:custGeom>
            <a:avLst/>
            <a:gdLst/>
            <a:ahLst/>
            <a:cxnLst/>
            <a:rect l="l" t="t" r="r" b="b"/>
            <a:pathLst>
              <a:path w="4849038" h="5671643">
                <a:moveTo>
                  <a:pt x="0" y="0"/>
                </a:moveTo>
                <a:lnTo>
                  <a:pt x="4849038" y="0"/>
                </a:lnTo>
                <a:lnTo>
                  <a:pt x="4849038" y="5671643"/>
                </a:lnTo>
                <a:lnTo>
                  <a:pt x="0" y="5671643"/>
                </a:lnTo>
                <a:lnTo>
                  <a:pt x="0" y="0"/>
                </a:lnTo>
                <a:close/>
              </a:path>
            </a:pathLst>
          </a:custGeom>
          <a:blipFill>
            <a:blip r:embed="rId4"/>
            <a:stretch>
              <a:fillRect/>
            </a:stretch>
          </a:blipFill>
        </p:spPr>
        <p:txBody>
          <a:bodyPr/>
          <a:lstStyle/>
          <a:p>
            <a:endParaRPr lang="vi-VN"/>
          </a:p>
        </p:txBody>
      </p:sp>
      <p:grpSp>
        <p:nvGrpSpPr>
          <p:cNvPr id="10" name="Group 10"/>
          <p:cNvGrpSpPr/>
          <p:nvPr/>
        </p:nvGrpSpPr>
        <p:grpSpPr>
          <a:xfrm>
            <a:off x="5900989" y="5072908"/>
            <a:ext cx="10863414" cy="2167257"/>
            <a:chOff x="0" y="0"/>
            <a:chExt cx="2866578" cy="571884"/>
          </a:xfrm>
        </p:grpSpPr>
        <p:sp>
          <p:nvSpPr>
            <p:cNvPr id="11" name="Freeform 11"/>
            <p:cNvSpPr/>
            <p:nvPr/>
          </p:nvSpPr>
          <p:spPr>
            <a:xfrm>
              <a:off x="0" y="0"/>
              <a:ext cx="2866578" cy="571884"/>
            </a:xfrm>
            <a:custGeom>
              <a:avLst/>
              <a:gdLst/>
              <a:ahLst/>
              <a:cxnLst/>
              <a:rect l="l" t="t" r="r" b="b"/>
              <a:pathLst>
                <a:path w="2866578" h="571884">
                  <a:moveTo>
                    <a:pt x="20667" y="0"/>
                  </a:moveTo>
                  <a:lnTo>
                    <a:pt x="2845911" y="0"/>
                  </a:lnTo>
                  <a:cubicBezTo>
                    <a:pt x="2857325" y="0"/>
                    <a:pt x="2866578" y="9253"/>
                    <a:pt x="2866578" y="20667"/>
                  </a:cubicBezTo>
                  <a:lnTo>
                    <a:pt x="2866578" y="551217"/>
                  </a:lnTo>
                  <a:cubicBezTo>
                    <a:pt x="2866578" y="556698"/>
                    <a:pt x="2864401" y="561955"/>
                    <a:pt x="2860525" y="565831"/>
                  </a:cubicBezTo>
                  <a:cubicBezTo>
                    <a:pt x="2856649" y="569706"/>
                    <a:pt x="2851392" y="571884"/>
                    <a:pt x="2845911" y="571884"/>
                  </a:cubicBezTo>
                  <a:lnTo>
                    <a:pt x="20667" y="571884"/>
                  </a:lnTo>
                  <a:cubicBezTo>
                    <a:pt x="15186" y="571884"/>
                    <a:pt x="9929" y="569706"/>
                    <a:pt x="6053" y="565831"/>
                  </a:cubicBezTo>
                  <a:cubicBezTo>
                    <a:pt x="2177" y="561955"/>
                    <a:pt x="0" y="556698"/>
                    <a:pt x="0" y="551217"/>
                  </a:cubicBezTo>
                  <a:lnTo>
                    <a:pt x="0" y="20667"/>
                  </a:lnTo>
                  <a:cubicBezTo>
                    <a:pt x="0" y="15186"/>
                    <a:pt x="2177" y="9929"/>
                    <a:pt x="6053" y="6053"/>
                  </a:cubicBezTo>
                  <a:cubicBezTo>
                    <a:pt x="9929" y="2177"/>
                    <a:pt x="15186" y="0"/>
                    <a:pt x="20667" y="0"/>
                  </a:cubicBezTo>
                  <a:close/>
                </a:path>
              </a:pathLst>
            </a:custGeom>
            <a:solidFill>
              <a:srgbClr val="FFFFFE"/>
            </a:solidFill>
            <a:ln w="19050" cap="rnd">
              <a:solidFill>
                <a:srgbClr val="181D2B"/>
              </a:solidFill>
              <a:prstDash val="solid"/>
              <a:round/>
            </a:ln>
          </p:spPr>
          <p:txBody>
            <a:bodyPr/>
            <a:lstStyle/>
            <a:p>
              <a:endParaRPr lang="vi-VN">
                <a:latin typeface="Times New Roman" panose="02020603050405020304" pitchFamily="18" charset="0"/>
                <a:cs typeface="Times New Roman" panose="02020603050405020304" pitchFamily="18" charset="0"/>
              </a:endParaRPr>
            </a:p>
          </p:txBody>
        </p:sp>
        <p:sp>
          <p:nvSpPr>
            <p:cNvPr id="12" name="TextBox 12"/>
            <p:cNvSpPr txBox="1"/>
            <p:nvPr/>
          </p:nvSpPr>
          <p:spPr>
            <a:xfrm>
              <a:off x="0" y="-38100"/>
              <a:ext cx="2866578" cy="609984"/>
            </a:xfrm>
            <a:prstGeom prst="rect">
              <a:avLst/>
            </a:prstGeom>
          </p:spPr>
          <p:txBody>
            <a:bodyPr lIns="50704" tIns="50704" rIns="50704" bIns="50704" rtlCol="0" anchor="ctr"/>
            <a:lstStyle/>
            <a:p>
              <a:pPr marL="0" lvl="0" indent="0" algn="ctr">
                <a:lnSpc>
                  <a:spcPts val="3135"/>
                </a:lnSpc>
              </a:pPr>
              <a:endParaRPr>
                <a:latin typeface="Times New Roman" panose="02020603050405020304" pitchFamily="18" charset="0"/>
                <a:cs typeface="Times New Roman" panose="02020603050405020304" pitchFamily="18" charset="0"/>
              </a:endParaRPr>
            </a:p>
          </p:txBody>
        </p:sp>
      </p:grpSp>
      <p:sp>
        <p:nvSpPr>
          <p:cNvPr id="13" name="TextBox 13"/>
          <p:cNvSpPr txBox="1"/>
          <p:nvPr/>
        </p:nvSpPr>
        <p:spPr>
          <a:xfrm>
            <a:off x="6425537" y="5457369"/>
            <a:ext cx="9523548" cy="885884"/>
          </a:xfrm>
          <a:prstGeom prst="rect">
            <a:avLst/>
          </a:prstGeom>
        </p:spPr>
        <p:txBody>
          <a:bodyPr lIns="0" tIns="0" rIns="0" bIns="0" rtlCol="0" anchor="t">
            <a:spAutoFit/>
          </a:bodyPr>
          <a:lstStyle/>
          <a:p>
            <a:pPr marL="0" lvl="0" indent="0" algn="l">
              <a:lnSpc>
                <a:spcPts val="3630"/>
              </a:lnSpc>
              <a:spcBef>
                <a:spcPct val="0"/>
              </a:spcBef>
            </a:pPr>
            <a:r>
              <a:rPr lang="en-US" sz="2593" u="none" strike="noStrike" spc="12">
                <a:solidFill>
                  <a:srgbClr val="181D2B"/>
                </a:solidFill>
                <a:latin typeface="Times New Roman" panose="02020603050405020304" pitchFamily="18" charset="0"/>
                <a:ea typeface="Open Sauce"/>
                <a:cs typeface="Times New Roman" panose="02020603050405020304" pitchFamily="18" charset="0"/>
                <a:sym typeface="Open Sauce"/>
              </a:rPr>
              <a:t>Hướng phát triển: Bổ sung tính năng gửi file và hình ảnh qua mạng, triển khai mã hóa tin nhắn End-to-End (E2E) để tăng cường bảo mật.</a:t>
            </a:r>
          </a:p>
        </p:txBody>
      </p:sp>
      <p:sp>
        <p:nvSpPr>
          <p:cNvPr id="14" name="Freeform 14"/>
          <p:cNvSpPr/>
          <p:nvPr/>
        </p:nvSpPr>
        <p:spPr>
          <a:xfrm>
            <a:off x="4998624" y="6044859"/>
            <a:ext cx="586747" cy="223355"/>
          </a:xfrm>
          <a:custGeom>
            <a:avLst/>
            <a:gdLst/>
            <a:ahLst/>
            <a:cxnLst/>
            <a:rect l="l" t="t" r="r" b="b"/>
            <a:pathLst>
              <a:path w="586747" h="223355">
                <a:moveTo>
                  <a:pt x="0" y="0"/>
                </a:moveTo>
                <a:lnTo>
                  <a:pt x="586747" y="0"/>
                </a:lnTo>
                <a:lnTo>
                  <a:pt x="586747" y="223355"/>
                </a:lnTo>
                <a:lnTo>
                  <a:pt x="0" y="2233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vi-VN">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EFF"/>
        </a:solidFill>
        <a:effectLst/>
      </p:bgPr>
    </p:bg>
    <p:spTree>
      <p:nvGrpSpPr>
        <p:cNvPr id="1" name=""/>
        <p:cNvGrpSpPr/>
        <p:nvPr/>
      </p:nvGrpSpPr>
      <p:grpSpPr>
        <a:xfrm>
          <a:off x="0" y="0"/>
          <a:ext cx="0" cy="0"/>
          <a:chOff x="0" y="0"/>
          <a:chExt cx="0" cy="0"/>
        </a:xfrm>
      </p:grpSpPr>
      <p:sp>
        <p:nvSpPr>
          <p:cNvPr id="2" name="Freeform 2"/>
          <p:cNvSpPr/>
          <p:nvPr/>
        </p:nvSpPr>
        <p:spPr>
          <a:xfrm>
            <a:off x="-1531290" y="1560604"/>
            <a:ext cx="6560653" cy="6560653"/>
          </a:xfrm>
          <a:custGeom>
            <a:avLst/>
            <a:gdLst/>
            <a:ahLst/>
            <a:cxnLst/>
            <a:rect l="l" t="t" r="r" b="b"/>
            <a:pathLst>
              <a:path w="6560653" h="6560653">
                <a:moveTo>
                  <a:pt x="0" y="0"/>
                </a:moveTo>
                <a:lnTo>
                  <a:pt x="6560653" y="0"/>
                </a:lnTo>
                <a:lnTo>
                  <a:pt x="6560653" y="6560653"/>
                </a:lnTo>
                <a:lnTo>
                  <a:pt x="0" y="6560653"/>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txBody>
          <a:bodyPr/>
          <a:lstStyle/>
          <a:p>
            <a:endParaRPr lang="vi-VN"/>
          </a:p>
        </p:txBody>
      </p:sp>
      <p:sp>
        <p:nvSpPr>
          <p:cNvPr id="3" name="TextBox 3"/>
          <p:cNvSpPr txBox="1"/>
          <p:nvPr/>
        </p:nvSpPr>
        <p:spPr>
          <a:xfrm>
            <a:off x="2504582" y="2656261"/>
            <a:ext cx="13755951" cy="2753959"/>
          </a:xfrm>
          <a:prstGeom prst="rect">
            <a:avLst/>
          </a:prstGeom>
        </p:spPr>
        <p:txBody>
          <a:bodyPr lIns="0" tIns="0" rIns="0" bIns="0" rtlCol="0" anchor="t">
            <a:spAutoFit/>
          </a:bodyPr>
          <a:lstStyle/>
          <a:p>
            <a:pPr marL="0" lvl="0" indent="0" algn="ctr">
              <a:lnSpc>
                <a:spcPts val="11200"/>
              </a:lnSpc>
              <a:spcBef>
                <a:spcPct val="0"/>
              </a:spcBef>
            </a:pPr>
            <a:r>
              <a:rPr lang="en-US" sz="8000" b="1" u="none" strike="noStrike">
                <a:solidFill>
                  <a:srgbClr val="2B598F"/>
                </a:solidFill>
                <a:latin typeface="Times New Roman" panose="02020603050405020304" pitchFamily="18" charset="0"/>
                <a:ea typeface="Agrandir Bold"/>
                <a:cs typeface="Times New Roman" panose="02020603050405020304" pitchFamily="18" charset="0"/>
                <a:sym typeface="Agrandir Bold"/>
              </a:rPr>
              <a:t>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985</Words>
  <Application>Microsoft Office PowerPoint</Application>
  <PresentationFormat>Tùy chỉnh</PresentationFormat>
  <Paragraphs>70</Paragraphs>
  <Slides>15</Slides>
  <Notes>0</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15</vt:i4>
      </vt:variant>
    </vt:vector>
  </HeadingPairs>
  <TitlesOfParts>
    <vt:vector size="20" baseType="lpstr">
      <vt:lpstr>Times New Roman</vt:lpstr>
      <vt:lpstr>Calibri</vt:lpstr>
      <vt:lpstr>Agrandir Bold</vt:lpstr>
      <vt:lpstr>Arial</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Chat via TCP GUI (LAN)</dc:title>
  <cp:lastModifiedBy>Mai Nguyễn Nam Hải</cp:lastModifiedBy>
  <cp:revision>3</cp:revision>
  <dcterms:created xsi:type="dcterms:W3CDTF">2006-08-16T00:00:00Z</dcterms:created>
  <dcterms:modified xsi:type="dcterms:W3CDTF">2026-04-16T09:17:31Z</dcterms:modified>
  <dc:identifier>DAHHADFnhfk</dc:identifier>
</cp:coreProperties>
</file>